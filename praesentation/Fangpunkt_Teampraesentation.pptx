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4271daf0-576d-b26b-417a-3b3e3f556668}">
          <p14:sldIdLst>
            <p14:sldId id="256"/>
            <p14:sldId id="257"/>
            <p14:sldId id="258"/>
          </p14:sldIdLst>
        </p14:section>
        <p14:section name="Entwicklungsstand" id="{cad71c74-9645-7195-03a8-3e4e715f0eae}">
          <p14:sldIdLst>
            <p14:sldId id="259"/>
            <p14:sldId id="260"/>
            <p14:sldId id="261"/>
          </p14:sldIdLst>
        </p14:section>
        <p14:section name="Funktionen" id="{f2ddbe47-134e-6a82-cc38-0a5dca5370c2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Lücken &amp; Infrastruktur" id="{6a914f88-3ab7-57cb-385d-b46913e0b121}">
          <p14:sldIdLst>
            <p14:sldId id="273"/>
            <p14:sldId id="274"/>
            <p14:sldId id="275"/>
          </p14:sldIdLst>
        </p14:section>
        <p14:section name="Kosten" id="{87d041d2-6822-c717-77ca-8f2360011e73}">
          <p14:sldIdLst>
            <p14:sldId id="276"/>
            <p14:sldId id="277"/>
            <p14:sldId id="278"/>
          </p14:sldIdLst>
        </p14:section>
        <p14:section name="Risiken &amp; Roadmap" id="{9629a28e-f4ca-e457-5488-ac9601e3d983}">
          <p14:sldIdLst>
            <p14:sldId id="279"/>
            <p14:sldId id="280"/>
            <p14:sldId id="281"/>
          </p14:sldIdLst>
        </p14:section>
        <p14:section name="Anhang" id="{08a81cee-bb08-7fb6-b294-545e729106d6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B30"/>
                </a:solidFill>
                <a:latin typeface="+mn-lt"/>
              </a:rPr>
              <a:t>Kosten pro Monat (netto, 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</c:v>
                </c:pt>
              </c:strCache>
            </c:strRef>
          </c:tx>
          <c:spPr>
            <a:solidFill>
              <a:srgbClr val="1F7A9C"/>
            </a:solidFill>
            <a:effectLst/>
          </c:spPr>
          <c:invertIfNegative val="0"/>
          <c:dLbls>
            <c:numFmt formatCode="#,##0.0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 · 50</c:v>
                  </c:pt>
                  <c:pt idx="1">
                    <c:v>S2 · 500</c:v>
                  </c:pt>
                  <c:pt idx="2">
                    <c:v>S3 · 5 000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1.68</c:v>
                </c:pt>
                <c:pt idx="1">
                  <c:v>24.14</c:v>
                </c:pt>
                <c:pt idx="2">
                  <c:v>47.5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Variabel (geschätzt)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#,##0.0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 · 50</c:v>
                  </c:pt>
                  <c:pt idx="1">
                    <c:v>S2 · 500</c:v>
                  </c:pt>
                  <c:pt idx="2">
                    <c:v>S3 · 5 000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32.79</c:v>
                </c:pt>
              </c:numCache>
            </c:numRef>
          </c:val>
        </c:ser>
        <c:dLbls>
          <c:numFmt formatCode="#,##0.0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#,##0 €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B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gemeinsames Bild vom tatsächlichen Stand – was läuft, was fehlt, was es kostet. Alles basiert auf dem Code und auf echten Aufnahmen der App (lokaler Produktionsbuild, echte Karte, echte Gewässer- und Wetterdaten, Beispieldaten im Fangbuch).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Fangpunkt ist ein Neustart als PWA. Wichtig für das Team: Die App erfindet keine Daten – das sieht man überall an „unbekannt“/„nicht verfügbar“.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Bewertet wurde jede Funktion einzeln, nicht die App pauschal. Grün heißt: automatisierter Test grün und/oder in dieser Prüfung live vorgeführt.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Kernfunktionen für den Einzelnutzer sind grün. Gelb/rot liegt vor allem bei Daten, die wir nicht haben (Tiefen, Pegel außerhalb NRW).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Wichtigste Botschaft: Der Login ist programmiert, scheitert aber am Mailversand. Ohne Konto kein Freunde/Teilen/Sync.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berichten: Die Unit-Tests sind fachlich grün, aber der Testlauf endet wegen unbehandelter Fehler in einem Testfile mit Fehlercode. Das ist eine kleine Aufgabe für Priorität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01 zeigt: Zoom an den De Wittsee, Fänge, Heatmap, Tipp aufs Wasser → Gewässerprofil mit Angelkarten-Abschnitt.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Warnung blockiert nie (Entscheidung Nutzer). Wetter wird nach dem Speichern automatisch nachgeladen – im Video sichtbar.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Statistik ist ein Reiter im Fangbuch. Alle Werte im Beispiel stammen aus 45 Beispieleinträgen.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Hintergrund-Aufzeichnung ginge nur mit nativer App (Capacitor) – das ist eine Grundsatzentscheidung.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Beißfenster sind keine Prognose, sondern eine Auswertung der eigenen Bisse (ab 20). Saisonale Infos: Schonzeiten im Rechtsbereich.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Inhalte stammen nur aus amtlichen Texten und wurden vom Nutzer gegengeprüft. Offen: Berliner Landesfischereischeingesetz, Abgabe-Verordnungen TH/SH/ST/RP, SH-Urlauberschein, NRW Äschen-Abschnitte.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vier Datenstufen stammen aus DATA_SOURCES §0. Angelkarten-Links werden nur nach Prüfung aufgenommen; nichts wird aus OSM-Tags abgeleitet.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Bitte ein erfahrenes Teammitglied für die fachliche Gegenprüfung benennen.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Kontovorschau (36b) zeigt das fertige Anmeldeformular, ist aber für Nutzer nicht freigeschaltet.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Ohne Cloud-Sync ist die Sicherungsdatei der einzige Schutz bei Gerätewechsel oder -verlust.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geprüft in dieser Runde: echte Geräte (iOS/Android), Safari und Firefox.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Teilweise/ungeprüft = Arbeit für Redaktion und Tests. Nicht implementiert = Entwicklung. Blockiert = Entscheidung oder Infrastruktur/Lizenz nötig.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 jeder Komponente: wofür, ob vorhanden, was davon abhängt, Empfehlung, Kosten. Alternativen (Hetzner + PocketBase, Resend, Cloudflare R2) stehen in der Excel-Datei.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Prinzip bleibt „lokal zuerst“: Fangbuch, Fotos und Orte liegen auf dem Gerät. Server nur für Konto, Freunde und bewusst geteilte Inhalte. Ende-zu-Ende-Verschlüsselung für geteilte Spots wird empfohlen (PLAN).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Brevo und Open-Meteo zeigen ihre Abopreise nur dynamisch an – diese Werte sind als Schätzung aus Drittquellen markiert.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Kosten nur in S3: angenommene 500 GB Transfer, Compute-Upgrade und Mail-Volumen. Arbeitszeit ist nicht eingerechnet.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alle Nutzer sind gleichzeitig aktiv: angenommen ~60 % (S1), ~60 % (S2), ~40 % (S3) monatlich aktiv. Fotos werden nur beim Teilen auf den Server geladen.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Rechtliche Bewertung (Impressumspflicht, Einwilligung für GoatCounter) ist offen und keine Rechtsberatung.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Aufwände sind Schätzungen in Arbeitstagen. Bekannte Werte aus PLAN.md: Offline-Karten M10 3–5 Tage, Tiefen-Spike 2 Tage + externe Klärung.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Empfehlung: Entscheidungen 1–3 jetzt, damit Priorität 1 starten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Projektdokumente als Grundlage: PLAN.md, ARCHITECTURE.md, DATA_SOURCES.md, DATA_MODEL.md, TEST_PLAN.md, CLAUDE.md.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Fangpunkt · Teampräsentation · Stand 30.10.2026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video" Target="../media/media-7-4.mp4"/><Relationship Id="rId5" Type="http://schemas.microsoft.com/office/2007/relationships/media" Target="../media/media-7-4.mp4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video" Target="../media/media-8-4.mp4"/><Relationship Id="rId5" Type="http://schemas.microsoft.com/office/2007/relationships/media" Target="../media/media-8-4.mp4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video" Target="../media/media-9-4.mp4"/><Relationship Id="rId5" Type="http://schemas.microsoft.com/office/2007/relationships/media" Target="../media/media-9-4.mp4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video" Target="../media/media-10-3.mp4"/><Relationship Id="rId4" Type="http://schemas.microsoft.com/office/2007/relationships/media" Target="../media/media-10-3.mp4"/><Relationship Id="rId5" Type="http://schemas.openxmlformats.org/officeDocument/2006/relationships/image" Target="../media/image-10-5.png"/><Relationship Id="rId6" Type="http://schemas.openxmlformats.org/officeDocument/2006/relationships/video" Target="../media/media-10-6.mp4"/><Relationship Id="rId7" Type="http://schemas.microsoft.com/office/2007/relationships/media" Target="../media/media-10-6.mp4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video" Target="../media/media-11-4.mp4"/><Relationship Id="rId5" Type="http://schemas.microsoft.com/office/2007/relationships/media" Target="../media/media-11-4.mp4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video" Target="../media/media-12-4.mp4"/><Relationship Id="rId5" Type="http://schemas.microsoft.com/office/2007/relationships/media" Target="../media/media-12-4.mp4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supabase.com/pricing" TargetMode="External"/><Relationship Id="rId2" Type="http://schemas.openxmlformats.org/officeDocument/2006/relationships/hyperlink" Target="https://supabase.com/docs/guides/platform/compute-and-disk" TargetMode="External"/><Relationship Id="rId3" Type="http://schemas.openxmlformats.org/officeDocument/2006/relationships/hyperlink" Target="https://www.brevo.com/pricing/" TargetMode="External"/><Relationship Id="rId4" Type="http://schemas.openxmlformats.org/officeDocument/2006/relationships/hyperlink" Target="https://www.sender.net/reviews/brevo/pricing/" TargetMode="External"/><Relationship Id="rId5" Type="http://schemas.openxmlformats.org/officeDocument/2006/relationships/hyperlink" Target="https://resend.com/pricing" TargetMode="External"/><Relationship Id="rId6" Type="http://schemas.openxmlformats.org/officeDocument/2006/relationships/hyperlink" Target="https://sentry.io/pricing/" TargetMode="External"/><Relationship Id="rId7" Type="http://schemas.openxmlformats.org/officeDocument/2006/relationships/hyperlink" Target="https://open-meteo.com/en/pricing" TargetMode="External"/><Relationship Id="rId8" Type="http://schemas.openxmlformats.org/officeDocument/2006/relationships/hyperlink" Target="https://openmeteo.substack.com/p/api-subscriptions-for-commercial" TargetMode="External"/><Relationship Id="rId9" Type="http://schemas.openxmlformats.org/officeDocument/2006/relationships/hyperlink" Target="https://developers.cloudflare.com/r2/pricing/" TargetMode="External"/><Relationship Id="rId10" Type="http://schemas.openxmlformats.org/officeDocument/2006/relationships/hyperlink" Target="https://developers.cloudflare.com/pages/platform/limits/" TargetMode="External"/><Relationship Id="rId11" Type="http://schemas.openxmlformats.org/officeDocument/2006/relationships/hyperlink" Target="https://docs.github.com/en/pages/getting-started-with-github-pages/github-pages-limits" TargetMode="External"/><Relationship Id="rId12" Type="http://schemas.openxmlformats.org/officeDocument/2006/relationships/hyperlink" Target="https://www.hetzner.com/cloud/regular-performance/" TargetMode="External"/><Relationship Id="rId13" Type="http://schemas.openxmlformats.org/officeDocument/2006/relationships/hyperlink" Target="https://www.inwx.de/app-domain" TargetMode="External"/><Relationship Id="rId14" Type="http://schemas.openxmlformats.org/officeDocument/2006/relationships/hyperlink" Target="https://developer.apple.com/programs/" TargetMode="External"/><Relationship Id="rId15" Type="http://schemas.openxmlformats.org/officeDocument/2006/relationships/hyperlink" Target="https://support.google.com/googleplay/android-developer/answer/6112435" TargetMode="External"/><Relationship Id="rId16" Type="http://schemas.openxmlformats.org/officeDocument/2006/relationships/hyperlink" Target="https://www.ecb.europa.eu/stats/policy_and_exchange_rates/euro_reference_exchange_rates/html/index.en.html" TargetMode="External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731520" y="1828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Fangpunkt</a:t>
            </a:r>
            <a:endParaRPr lang="en-US" sz="6000" dirty="0"/>
          </a:p>
        </p:txBody>
      </p:sp>
      <p:sp>
        <p:nvSpPr>
          <p:cNvPr id="4" name="untertitel"/>
          <p:cNvSpPr txBox="1"/>
          <p:nvPr/>
        </p:nvSpPr>
        <p:spPr>
          <a:xfrm>
            <a:off x="73152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FE0E8"/>
                </a:solidFill>
              </a:rPr>
              <a:t>Aktueller Entwicklungsstand</a:t>
            </a:r>
            <a:endParaRPr lang="en-US" sz="2800" dirty="0"/>
          </a:p>
        </p:txBody>
      </p:sp>
      <p:sp>
        <p:nvSpPr>
          <p:cNvPr id="5" name="themen"/>
          <p:cNvSpPr txBox="1"/>
          <p:nvPr/>
        </p:nvSpPr>
        <p:spPr>
          <a:xfrm>
            <a:off x="73152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Funktionen · Lücken · Infrastruktur · Kosten</a:t>
            </a:r>
            <a:endParaRPr lang="en-US" sz="1800" dirty="0"/>
          </a:p>
        </p:txBody>
      </p:sp>
      <p:sp>
        <p:nvSpPr>
          <p:cNvPr id="6" name="stand"/>
          <p:cNvSpPr txBox="1"/>
          <p:nvPr/>
        </p:nvSpPr>
        <p:spPr>
          <a:xfrm>
            <a:off x="731520" y="4846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0E8"/>
                </a:solidFill>
              </a:rPr>
              <a:t>Teampräsentation · Stand 30.10.2026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8"/>
                </a:solidFill>
              </a:rPr>
              <a:t>Grundlage: Code-Stand main (da94ba6), Tests und echte App-Aufnahmen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FE0E8"/>
                </a:solidFill>
              </a:rPr>
              <a:t>Alle gezeigten Fänge, Sessions und Profile sind Beispieldaten</a:t>
            </a:r>
            <a:endParaRPr lang="en-US" sz="1300" dirty="0"/>
          </a:p>
        </p:txBody>
      </p:sp>
      <p:sp>
        <p:nvSpPr>
          <p:cNvPr id="7" name="rahmen-1"/>
          <p:cNvSpPr/>
          <p:nvPr/>
        </p:nvSpPr>
        <p:spPr>
          <a:xfrm>
            <a:off x="7434072" y="621792"/>
            <a:ext cx="2494189" cy="5248656"/>
          </a:xfrm>
          <a:prstGeom prst="roundRect">
            <a:avLst>
              <a:gd name="adj" fmla="val 439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shot-2" descr="01_karte_fangor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685800"/>
            <a:ext cx="2366173" cy="5120640"/>
          </a:xfrm>
          <a:prstGeom prst="rect">
            <a:avLst/>
          </a:prstGeom>
        </p:spPr>
      </p:pic>
      <p:sp>
        <p:nvSpPr>
          <p:cNvPr id="9" name="rahmen-3"/>
          <p:cNvSpPr/>
          <p:nvPr/>
        </p:nvSpPr>
        <p:spPr>
          <a:xfrm>
            <a:off x="9765792" y="1170432"/>
            <a:ext cx="2240670" cy="4700016"/>
          </a:xfrm>
          <a:prstGeom prst="roundRect">
            <a:avLst>
              <a:gd name="adj" fmla="val 48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screenshot-4" descr="14_statistik_kennzahl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234440"/>
            <a:ext cx="2112654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Fangpunkt: Gewässer finden, Stellen merken, Fänge festhalten – deutschlandweit</a:t>
            </a:r>
            <a:endParaRPr lang="en-US" sz="2400" dirty="0"/>
          </a:p>
        </p:txBody>
      </p:sp>
      <p:sp>
        <p:nvSpPr>
          <p:cNvPr id="3" name="kreis-5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81328"/>
            <a:ext cx="374904" cy="374904"/>
          </a:xfrm>
          <a:prstGeom prst="rect">
            <a:avLst/>
          </a:prstGeom>
        </p:spPr>
      </p:pic>
      <p:sp>
        <p:nvSpPr>
          <p:cNvPr id="5" name="kopf-7"/>
          <p:cNvSpPr txBox="1"/>
          <p:nvPr/>
        </p:nvSpPr>
        <p:spPr>
          <a:xfrm>
            <a:off x="1463040" y="12984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Idee</a:t>
            </a:r>
            <a:endParaRPr lang="en-US" sz="1800" dirty="0"/>
          </a:p>
        </p:txBody>
      </p:sp>
      <p:sp>
        <p:nvSpPr>
          <p:cNvPr id="6" name="text-8"/>
          <p:cNvSpPr txBox="1"/>
          <p:nvPr/>
        </p:nvSpPr>
        <p:spPr>
          <a:xfrm>
            <a:off x="1463040" y="16459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Angel-App für ganz Deutschland als Progressive Web App (PWA): läuft im Browser, lässt sich auf dem Handy installieren und funktioniert teilweise offline.</a:t>
            </a:r>
            <a:endParaRPr lang="en-US" sz="1400" dirty="0"/>
          </a:p>
        </p:txBody>
      </p:sp>
      <p:sp>
        <p:nvSpPr>
          <p:cNvPr id="7" name="kreis-9"/>
          <p:cNvSpPr/>
          <p:nvPr/>
        </p:nvSpPr>
        <p:spPr>
          <a:xfrm>
            <a:off x="548640" y="2514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670048"/>
            <a:ext cx="374904" cy="374904"/>
          </a:xfrm>
          <a:prstGeom prst="rect">
            <a:avLst/>
          </a:prstGeom>
        </p:spPr>
      </p:pic>
      <p:sp>
        <p:nvSpPr>
          <p:cNvPr id="9" name="kopf-11"/>
          <p:cNvSpPr txBox="1"/>
          <p:nvPr/>
        </p:nvSpPr>
        <p:spPr>
          <a:xfrm>
            <a:off x="1463040" y="248716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Zielgruppe</a:t>
            </a:r>
            <a:endParaRPr lang="en-US" sz="1800" dirty="0"/>
          </a:p>
        </p:txBody>
      </p:sp>
      <p:sp>
        <p:nvSpPr>
          <p:cNvPr id="10" name="text-12"/>
          <p:cNvSpPr txBox="1"/>
          <p:nvPr/>
        </p:nvSpPr>
        <p:spPr>
          <a:xfrm>
            <a:off x="1463040" y="2834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Angler in Deutschland, die Fänge dokumentieren, Gewässer kennenlernen und Schonzeiten und Mindestmaße im Blick behalten wollen [Annahme].</a:t>
            </a:r>
            <a:endParaRPr lang="en-US" sz="1400" dirty="0"/>
          </a:p>
        </p:txBody>
      </p:sp>
      <p:sp>
        <p:nvSpPr>
          <p:cNvPr id="11" name="kreis-13"/>
          <p:cNvSpPr/>
          <p:nvPr/>
        </p:nvSpPr>
        <p:spPr>
          <a:xfrm>
            <a:off x="548640" y="3703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858768"/>
            <a:ext cx="374904" cy="374904"/>
          </a:xfrm>
          <a:prstGeom prst="rect">
            <a:avLst/>
          </a:prstGeom>
        </p:spPr>
      </p:pic>
      <p:sp>
        <p:nvSpPr>
          <p:cNvPr id="13" name="kopf-15"/>
          <p:cNvSpPr txBox="1"/>
          <p:nvPr/>
        </p:nvSpPr>
        <p:spPr>
          <a:xfrm>
            <a:off x="1463040" y="36758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Nutzen</a:t>
            </a:r>
            <a:endParaRPr lang="en-US" sz="1800" dirty="0"/>
          </a:p>
        </p:txBody>
      </p:sp>
      <p:sp>
        <p:nvSpPr>
          <p:cNvPr id="14" name="text-16"/>
          <p:cNvSpPr txBox="1"/>
          <p:nvPr/>
        </p:nvSpPr>
        <p:spPr>
          <a:xfrm>
            <a:off x="1463040" y="40233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Fangbuch mit Statistik, Landesrecht mit Warnung beim Erfassen, Wetter und eigene Beißfenster – persönliche Daten bleiben auf dem Gerät.</a:t>
            </a:r>
            <a:endParaRPr lang="en-US" sz="1400" dirty="0"/>
          </a:p>
        </p:txBody>
      </p:sp>
      <p:sp>
        <p:nvSpPr>
          <p:cNvPr id="15" name="kreis-17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047488"/>
            <a:ext cx="374904" cy="374904"/>
          </a:xfrm>
          <a:prstGeom prst="rect">
            <a:avLst/>
          </a:prstGeom>
        </p:spPr>
      </p:pic>
      <p:sp>
        <p:nvSpPr>
          <p:cNvPr id="17" name="kopf-19"/>
          <p:cNvSpPr txBox="1"/>
          <p:nvPr/>
        </p:nvSpPr>
        <p:spPr>
          <a:xfrm>
            <a:off x="1463040" y="48646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Rahmen</a:t>
            </a:r>
            <a:endParaRPr lang="en-US" sz="1800" dirty="0"/>
          </a:p>
        </p:txBody>
      </p:sp>
      <p:sp>
        <p:nvSpPr>
          <p:cNvPr id="18" name="text-20"/>
          <p:cNvSpPr txBox="1"/>
          <p:nvPr/>
        </p:nvSpPr>
        <p:spPr>
          <a:xfrm>
            <a:off x="1463040" y="52120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Nicht kommerziell (Entscheidung E3), Arbeitsname „Fangpunkt“, nichts erfinden: fehlende Daten werden als „unbekannt“ gezeigt.</a:t>
            </a:r>
            <a:endParaRPr lang="en-US" sz="1400" dirty="0"/>
          </a:p>
        </p:txBody>
      </p:sp>
      <p:sp>
        <p:nvSpPr>
          <p:cNvPr id="19" name="rahmen-21"/>
          <p:cNvSpPr/>
          <p:nvPr/>
        </p:nvSpPr>
        <p:spPr>
          <a:xfrm>
            <a:off x="7388352" y="1261872"/>
            <a:ext cx="2071658" cy="4334256"/>
          </a:xfrm>
          <a:prstGeom prst="roundRect">
            <a:avLst>
              <a:gd name="adj" fmla="val 52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screenshot-22" descr="Gewässerprofil De Wittsee: Daten aus OSM, Tiefenkarte ehrlich „nicht verfügbar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325880"/>
            <a:ext cx="1943642" cy="4206240"/>
          </a:xfrm>
          <a:prstGeom prst="rect">
            <a:avLst/>
          </a:prstGeom>
        </p:spPr>
      </p:pic>
      <p:sp>
        <p:nvSpPr>
          <p:cNvPr id="21" name="caption-23"/>
          <p:cNvSpPr txBox="1"/>
          <p:nvPr/>
        </p:nvSpPr>
        <p:spPr>
          <a:xfrm>
            <a:off x="7406640" y="5641848"/>
            <a:ext cx="2035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Gewässerprofil De Wittsee: Daten aus OSM, Tiefenkarte ehrlich „nicht verfügbar“</a:t>
            </a:r>
            <a:endParaRPr lang="en-US" sz="1000" dirty="0"/>
          </a:p>
        </p:txBody>
      </p:sp>
      <p:sp>
        <p:nvSpPr>
          <p:cNvPr id="22" name="rahmen-24"/>
          <p:cNvSpPr/>
          <p:nvPr/>
        </p:nvSpPr>
        <p:spPr>
          <a:xfrm>
            <a:off x="9628632" y="1261872"/>
            <a:ext cx="2071658" cy="4334256"/>
          </a:xfrm>
          <a:prstGeom prst="roundRect">
            <a:avLst>
              <a:gd name="adj" fmla="val 52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screenshot-25" descr="Live am 30.10.2026: DWD-Nebelwarnu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1325880"/>
            <a:ext cx="1943642" cy="4206240"/>
          </a:xfrm>
          <a:prstGeom prst="rect">
            <a:avLst/>
          </a:prstGeom>
        </p:spPr>
      </p:pic>
      <p:sp>
        <p:nvSpPr>
          <p:cNvPr id="24" name="caption-26"/>
          <p:cNvSpPr txBox="1"/>
          <p:nvPr/>
        </p:nvSpPr>
        <p:spPr>
          <a:xfrm>
            <a:off x="9646920" y="5641848"/>
            <a:ext cx="2035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Live am 30.10.2026: DWD-Nebelwarnung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45 Funktionen in 8 Bereichen geprüft – 26 laufen, 7 eingeschränkt, 12 fehlen</a:t>
            </a:r>
            <a:endParaRPr lang="en-US" sz="2400" dirty="0"/>
          </a:p>
        </p:txBody>
      </p:sp>
      <p:sp>
        <p:nvSpPr>
          <p:cNvPr id="3" name="kachel-27"/>
          <p:cNvSpPr/>
          <p:nvPr/>
        </p:nvSpPr>
        <p:spPr>
          <a:xfrm>
            <a:off x="50292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reis-28"/>
          <p:cNvSpPr/>
          <p:nvPr/>
        </p:nvSpPr>
        <p:spPr>
          <a:xfrm>
            <a:off x="685800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2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55064"/>
            <a:ext cx="292608" cy="292608"/>
          </a:xfrm>
          <a:prstGeom prst="rect">
            <a:avLst/>
          </a:prstGeom>
        </p:spPr>
      </p:pic>
      <p:sp>
        <p:nvSpPr>
          <p:cNvPr id="6" name="bereich-30"/>
          <p:cNvSpPr txBox="1"/>
          <p:nvPr/>
        </p:nvSpPr>
        <p:spPr>
          <a:xfrm>
            <a:off x="137160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Gewässerkarte &amp; Spots</a:t>
            </a:r>
            <a:endParaRPr lang="en-US" sz="1400" dirty="0"/>
          </a:p>
        </p:txBody>
      </p:sp>
      <p:sp>
        <p:nvSpPr>
          <p:cNvPr id="7" name="zahl-31"/>
          <p:cNvSpPr/>
          <p:nvPr/>
        </p:nvSpPr>
        <p:spPr>
          <a:xfrm>
            <a:off x="685800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8" name="zahltext-32"/>
          <p:cNvSpPr txBox="1"/>
          <p:nvPr/>
        </p:nvSpPr>
        <p:spPr>
          <a:xfrm>
            <a:off x="685800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9" name="zahl-33"/>
          <p:cNvSpPr/>
          <p:nvPr/>
        </p:nvSpPr>
        <p:spPr>
          <a:xfrm>
            <a:off x="1490472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10" name="zahltext-34"/>
          <p:cNvSpPr txBox="1"/>
          <p:nvPr/>
        </p:nvSpPr>
        <p:spPr>
          <a:xfrm>
            <a:off x="1490472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zahl-35"/>
          <p:cNvSpPr/>
          <p:nvPr/>
        </p:nvSpPr>
        <p:spPr>
          <a:xfrm>
            <a:off x="2295144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12" name="zahltext-36"/>
          <p:cNvSpPr txBox="1"/>
          <p:nvPr/>
        </p:nvSpPr>
        <p:spPr>
          <a:xfrm>
            <a:off x="2295144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kachel-37"/>
          <p:cNvSpPr/>
          <p:nvPr/>
        </p:nvSpPr>
        <p:spPr>
          <a:xfrm>
            <a:off x="333756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reis-38"/>
          <p:cNvSpPr/>
          <p:nvPr/>
        </p:nvSpPr>
        <p:spPr>
          <a:xfrm>
            <a:off x="3520440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655064"/>
            <a:ext cx="292608" cy="292608"/>
          </a:xfrm>
          <a:prstGeom prst="rect">
            <a:avLst/>
          </a:prstGeom>
        </p:spPr>
      </p:pic>
      <p:sp>
        <p:nvSpPr>
          <p:cNvPr id="16" name="bereich-40"/>
          <p:cNvSpPr txBox="1"/>
          <p:nvPr/>
        </p:nvSpPr>
        <p:spPr>
          <a:xfrm>
            <a:off x="420624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Fänge &amp; Statistik</a:t>
            </a:r>
            <a:endParaRPr lang="en-US" sz="1400" dirty="0"/>
          </a:p>
        </p:txBody>
      </p:sp>
      <p:sp>
        <p:nvSpPr>
          <p:cNvPr id="17" name="zahl-41"/>
          <p:cNvSpPr/>
          <p:nvPr/>
        </p:nvSpPr>
        <p:spPr>
          <a:xfrm>
            <a:off x="3520440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zahltext-42"/>
          <p:cNvSpPr txBox="1"/>
          <p:nvPr/>
        </p:nvSpPr>
        <p:spPr>
          <a:xfrm>
            <a:off x="3520440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kachel-43"/>
          <p:cNvSpPr/>
          <p:nvPr/>
        </p:nvSpPr>
        <p:spPr>
          <a:xfrm>
            <a:off x="617220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kreis-44"/>
          <p:cNvSpPr/>
          <p:nvPr/>
        </p:nvSpPr>
        <p:spPr>
          <a:xfrm>
            <a:off x="6355080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-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655064"/>
            <a:ext cx="292608" cy="292608"/>
          </a:xfrm>
          <a:prstGeom prst="rect">
            <a:avLst/>
          </a:prstGeom>
        </p:spPr>
      </p:pic>
      <p:sp>
        <p:nvSpPr>
          <p:cNvPr id="22" name="bereich-46"/>
          <p:cNvSpPr txBox="1"/>
          <p:nvPr/>
        </p:nvSpPr>
        <p:spPr>
          <a:xfrm>
            <a:off x="704088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Sessions &amp; Routen</a:t>
            </a:r>
            <a:endParaRPr lang="en-US" sz="1400" dirty="0"/>
          </a:p>
        </p:txBody>
      </p:sp>
      <p:sp>
        <p:nvSpPr>
          <p:cNvPr id="23" name="zahl-47"/>
          <p:cNvSpPr/>
          <p:nvPr/>
        </p:nvSpPr>
        <p:spPr>
          <a:xfrm>
            <a:off x="6355080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zahltext-48"/>
          <p:cNvSpPr txBox="1"/>
          <p:nvPr/>
        </p:nvSpPr>
        <p:spPr>
          <a:xfrm>
            <a:off x="6355080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zahl-49"/>
          <p:cNvSpPr/>
          <p:nvPr/>
        </p:nvSpPr>
        <p:spPr>
          <a:xfrm>
            <a:off x="7159752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26" name="zahltext-50"/>
          <p:cNvSpPr txBox="1"/>
          <p:nvPr/>
        </p:nvSpPr>
        <p:spPr>
          <a:xfrm>
            <a:off x="7159752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7" name="kachel-51"/>
          <p:cNvSpPr/>
          <p:nvPr/>
        </p:nvSpPr>
        <p:spPr>
          <a:xfrm>
            <a:off x="900684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kreis-52"/>
          <p:cNvSpPr/>
          <p:nvPr/>
        </p:nvSpPr>
        <p:spPr>
          <a:xfrm>
            <a:off x="9189720" y="15270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-5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655064"/>
            <a:ext cx="292608" cy="292608"/>
          </a:xfrm>
          <a:prstGeom prst="rect">
            <a:avLst/>
          </a:prstGeom>
        </p:spPr>
      </p:pic>
      <p:sp>
        <p:nvSpPr>
          <p:cNvPr id="30" name="bereich-54"/>
          <p:cNvSpPr txBox="1"/>
          <p:nvPr/>
        </p:nvSpPr>
        <p:spPr>
          <a:xfrm>
            <a:off x="987552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Wetter &amp; Beißfenster</a:t>
            </a:r>
            <a:endParaRPr lang="en-US" sz="1400" dirty="0"/>
          </a:p>
        </p:txBody>
      </p:sp>
      <p:sp>
        <p:nvSpPr>
          <p:cNvPr id="31" name="zahl-55"/>
          <p:cNvSpPr/>
          <p:nvPr/>
        </p:nvSpPr>
        <p:spPr>
          <a:xfrm>
            <a:off x="9189720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2" name="zahltext-56"/>
          <p:cNvSpPr txBox="1"/>
          <p:nvPr/>
        </p:nvSpPr>
        <p:spPr>
          <a:xfrm>
            <a:off x="9189720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zahl-57"/>
          <p:cNvSpPr/>
          <p:nvPr/>
        </p:nvSpPr>
        <p:spPr>
          <a:xfrm>
            <a:off x="9994392" y="23500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34" name="zahltext-58"/>
          <p:cNvSpPr txBox="1"/>
          <p:nvPr/>
        </p:nvSpPr>
        <p:spPr>
          <a:xfrm>
            <a:off x="9994392" y="23500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kachel-59"/>
          <p:cNvSpPr/>
          <p:nvPr/>
        </p:nvSpPr>
        <p:spPr>
          <a:xfrm>
            <a:off x="502920" y="31546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kreis-60"/>
          <p:cNvSpPr/>
          <p:nvPr/>
        </p:nvSpPr>
        <p:spPr>
          <a:xfrm>
            <a:off x="685800" y="33558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con-6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483864"/>
            <a:ext cx="292608" cy="292608"/>
          </a:xfrm>
          <a:prstGeom prst="rect">
            <a:avLst/>
          </a:prstGeom>
        </p:spPr>
      </p:pic>
      <p:sp>
        <p:nvSpPr>
          <p:cNvPr id="38" name="bereich-62"/>
          <p:cNvSpPr txBox="1"/>
          <p:nvPr/>
        </p:nvSpPr>
        <p:spPr>
          <a:xfrm>
            <a:off x="1371600" y="3337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Fischereirecht</a:t>
            </a:r>
            <a:endParaRPr lang="en-US" sz="1400" dirty="0"/>
          </a:p>
        </p:txBody>
      </p:sp>
      <p:sp>
        <p:nvSpPr>
          <p:cNvPr id="39" name="zahl-63"/>
          <p:cNvSpPr/>
          <p:nvPr/>
        </p:nvSpPr>
        <p:spPr>
          <a:xfrm>
            <a:off x="685800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0" name="zahltext-64"/>
          <p:cNvSpPr txBox="1"/>
          <p:nvPr/>
        </p:nvSpPr>
        <p:spPr>
          <a:xfrm>
            <a:off x="685800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1" name="zahl-65"/>
          <p:cNvSpPr/>
          <p:nvPr/>
        </p:nvSpPr>
        <p:spPr>
          <a:xfrm>
            <a:off x="1490472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42" name="zahltext-66"/>
          <p:cNvSpPr txBox="1"/>
          <p:nvPr/>
        </p:nvSpPr>
        <p:spPr>
          <a:xfrm>
            <a:off x="1490472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43" name="zahl-67"/>
          <p:cNvSpPr/>
          <p:nvPr/>
        </p:nvSpPr>
        <p:spPr>
          <a:xfrm>
            <a:off x="2295144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44" name="zahltext-68"/>
          <p:cNvSpPr txBox="1"/>
          <p:nvPr/>
        </p:nvSpPr>
        <p:spPr>
          <a:xfrm>
            <a:off x="2295144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5" name="kachel-69"/>
          <p:cNvSpPr/>
          <p:nvPr/>
        </p:nvSpPr>
        <p:spPr>
          <a:xfrm>
            <a:off x="3337560" y="31546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kreis-70"/>
          <p:cNvSpPr/>
          <p:nvPr/>
        </p:nvSpPr>
        <p:spPr>
          <a:xfrm>
            <a:off x="3520440" y="33558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7" name="icon-7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3483864"/>
            <a:ext cx="292608" cy="292608"/>
          </a:xfrm>
          <a:prstGeom prst="rect">
            <a:avLst/>
          </a:prstGeom>
        </p:spPr>
      </p:pic>
      <p:sp>
        <p:nvSpPr>
          <p:cNvPr id="48" name="bereich-72"/>
          <p:cNvSpPr txBox="1"/>
          <p:nvPr/>
        </p:nvSpPr>
        <p:spPr>
          <a:xfrm>
            <a:off x="4206240" y="3337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Konto &amp; Community</a:t>
            </a:r>
            <a:endParaRPr lang="en-US" sz="1400" dirty="0"/>
          </a:p>
        </p:txBody>
      </p:sp>
      <p:sp>
        <p:nvSpPr>
          <p:cNvPr id="49" name="zahl-73"/>
          <p:cNvSpPr/>
          <p:nvPr/>
        </p:nvSpPr>
        <p:spPr>
          <a:xfrm>
            <a:off x="3520440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50" name="zahltext-74"/>
          <p:cNvSpPr txBox="1"/>
          <p:nvPr/>
        </p:nvSpPr>
        <p:spPr>
          <a:xfrm>
            <a:off x="3520440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1" name="zahl-75"/>
          <p:cNvSpPr/>
          <p:nvPr/>
        </p:nvSpPr>
        <p:spPr>
          <a:xfrm>
            <a:off x="4325112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52" name="zahltext-76"/>
          <p:cNvSpPr txBox="1"/>
          <p:nvPr/>
        </p:nvSpPr>
        <p:spPr>
          <a:xfrm>
            <a:off x="4325112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3" name="kachel-77"/>
          <p:cNvSpPr/>
          <p:nvPr/>
        </p:nvSpPr>
        <p:spPr>
          <a:xfrm>
            <a:off x="6172200" y="31546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kreis-78"/>
          <p:cNvSpPr/>
          <p:nvPr/>
        </p:nvSpPr>
        <p:spPr>
          <a:xfrm>
            <a:off x="6355080" y="33558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5" name="icon-7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3483864"/>
            <a:ext cx="292608" cy="292608"/>
          </a:xfrm>
          <a:prstGeom prst="rect">
            <a:avLst/>
          </a:prstGeom>
        </p:spPr>
      </p:pic>
      <p:sp>
        <p:nvSpPr>
          <p:cNvPr id="56" name="bereich-80"/>
          <p:cNvSpPr txBox="1"/>
          <p:nvPr/>
        </p:nvSpPr>
        <p:spPr>
          <a:xfrm>
            <a:off x="7040880" y="3337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Offline &amp; Sicherung</a:t>
            </a:r>
            <a:endParaRPr lang="en-US" sz="1400" dirty="0"/>
          </a:p>
        </p:txBody>
      </p:sp>
      <p:sp>
        <p:nvSpPr>
          <p:cNvPr id="57" name="zahl-81"/>
          <p:cNvSpPr/>
          <p:nvPr/>
        </p:nvSpPr>
        <p:spPr>
          <a:xfrm>
            <a:off x="6355080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8" name="zahltext-82"/>
          <p:cNvSpPr txBox="1"/>
          <p:nvPr/>
        </p:nvSpPr>
        <p:spPr>
          <a:xfrm>
            <a:off x="6355080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9" name="zahl-83"/>
          <p:cNvSpPr/>
          <p:nvPr/>
        </p:nvSpPr>
        <p:spPr>
          <a:xfrm>
            <a:off x="7159752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60" name="zahltext-84"/>
          <p:cNvSpPr txBox="1"/>
          <p:nvPr/>
        </p:nvSpPr>
        <p:spPr>
          <a:xfrm>
            <a:off x="7159752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1" name="zahl-85"/>
          <p:cNvSpPr/>
          <p:nvPr/>
        </p:nvSpPr>
        <p:spPr>
          <a:xfrm>
            <a:off x="7964424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62" name="zahltext-86"/>
          <p:cNvSpPr txBox="1"/>
          <p:nvPr/>
        </p:nvSpPr>
        <p:spPr>
          <a:xfrm>
            <a:off x="7964424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3" name="kachel-87"/>
          <p:cNvSpPr/>
          <p:nvPr/>
        </p:nvSpPr>
        <p:spPr>
          <a:xfrm>
            <a:off x="9006840" y="31546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kreis-88"/>
          <p:cNvSpPr/>
          <p:nvPr/>
        </p:nvSpPr>
        <p:spPr>
          <a:xfrm>
            <a:off x="9189720" y="33558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5" name="icon-8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3483864"/>
            <a:ext cx="292608" cy="292608"/>
          </a:xfrm>
          <a:prstGeom prst="rect">
            <a:avLst/>
          </a:prstGeom>
        </p:spPr>
      </p:pic>
      <p:sp>
        <p:nvSpPr>
          <p:cNvPr id="66" name="bereich-90"/>
          <p:cNvSpPr txBox="1"/>
          <p:nvPr/>
        </p:nvSpPr>
        <p:spPr>
          <a:xfrm>
            <a:off x="9875520" y="3337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Allgemeine Funktionen</a:t>
            </a:r>
            <a:endParaRPr lang="en-US" sz="1400" dirty="0"/>
          </a:p>
        </p:txBody>
      </p:sp>
      <p:sp>
        <p:nvSpPr>
          <p:cNvPr id="67" name="zahl-91"/>
          <p:cNvSpPr/>
          <p:nvPr/>
        </p:nvSpPr>
        <p:spPr>
          <a:xfrm>
            <a:off x="9189720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8" name="zahltext-92"/>
          <p:cNvSpPr txBox="1"/>
          <p:nvPr/>
        </p:nvSpPr>
        <p:spPr>
          <a:xfrm>
            <a:off x="9189720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69" name="zahl-93"/>
          <p:cNvSpPr/>
          <p:nvPr/>
        </p:nvSpPr>
        <p:spPr>
          <a:xfrm>
            <a:off x="9994392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70" name="zahltext-94"/>
          <p:cNvSpPr txBox="1"/>
          <p:nvPr/>
        </p:nvSpPr>
        <p:spPr>
          <a:xfrm>
            <a:off x="9994392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71" name="zahl-95"/>
          <p:cNvSpPr/>
          <p:nvPr/>
        </p:nvSpPr>
        <p:spPr>
          <a:xfrm>
            <a:off x="10799064" y="4178808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72" name="zahltext-96"/>
          <p:cNvSpPr txBox="1"/>
          <p:nvPr/>
        </p:nvSpPr>
        <p:spPr>
          <a:xfrm>
            <a:off x="10799064" y="41788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73" name="legende"/>
          <p:cNvSpPr txBox="1"/>
          <p:nvPr/>
        </p:nvSpPr>
        <p:spPr>
          <a:xfrm>
            <a:off x="502920" y="5120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Legende: </a:t>
            </a:r>
            <a:pPr indent="0" marL="0">
              <a:buNone/>
            </a:pPr>
            <a:r>
              <a:rPr lang="en-US" sz="1300" dirty="0">
                <a:solidFill>
                  <a:srgbClr val="2E9E5B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Funktioniert (Test grün und/oder live vorgeführt)   </a:t>
            </a:r>
            <a:pPr indent="0" marL="0">
              <a:buNone/>
            </a:pPr>
            <a:r>
              <a:rPr lang="en-US" sz="1300" dirty="0">
                <a:solidFill>
                  <a:srgbClr val="E3A500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Teilweise implementiert oder ungeprüft   </a:t>
            </a:r>
            <a:pPr indent="0" marL="0">
              <a:buNone/>
            </a:pPr>
            <a:r>
              <a:rPr lang="en-US" sz="1300" dirty="0">
                <a:solidFill>
                  <a:srgbClr val="C8463B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Noch nicht implementiert oder blockiert</a:t>
            </a:r>
            <a:endParaRPr lang="en-US" sz="1300" dirty="0"/>
          </a:p>
        </p:txBody>
      </p:sp>
      <p:sp>
        <p:nvSpPr>
          <p:cNvPr id="74" name="hinweis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Vollständige Liste mit Nachweis je Funktion: Fangpunkt_Funktionsuebersicht.xlsx (Blatt „Funktionen“) – 26 grün · 7 gelb · 12 rot.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Ampel 1/2: Karte, Fangbuch, Sessions und Wetter sind weitgehend fertig und getestet</a:t>
            </a:r>
            <a:endParaRPr lang="en-US" sz="2400" dirty="0"/>
          </a:p>
        </p:txBody>
      </p:sp>
      <p:graphicFrame>
        <p:nvGraphicFramePr>
          <p:cNvPr id="5" name="ampel-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00200"/>
                <a:gridCol w="3154680"/>
                <a:gridCol w="1783080"/>
                <a:gridCol w="14173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Funktionsbereich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Was funktioniert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Was fehlt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Abhängigkeit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Nächster Schritt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Karte, Suche, GPS, Spots, Heatmap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🟢 Getestet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Basiskarte, Gewässer ganz DE (164,7 MB), Suche ohne Fremddienst, 6 Markierungsarten, Heatmap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Offline-Karte (zurückgestellt)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OpenFreeMap, GitHub Pages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Ausweichstil vorbereiten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Gewässerprofil &amp; Angelkarte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Profil je Gewässer; 21 geprüfte Gewässer-Links, Landesverbände in 15 Ländern, eigener Link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Bremen; weitere Gewässer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Redaktionelle Prüfung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Weitere Pakete prüfen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Tiefenkarten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63B"/>
                          </a:solidFill>
                        </a:rPr>
                        <a:t>🔴 Blockiert (Lizenz)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Ehrlich „nicht verfügbar“, Schnittstelle vorgesehen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Daten mit Nutzungsrecht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Lizenzgeber (z. B. Navionics, LM M-V)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Lizenzanfragen (M9)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Fang erfassen, Fotos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🟢 Getestet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4 Ergebnisarten, offline, Fotos ohne EXIF/GPS, Rechts-Warnung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lokal (IndexedDB)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Fanghistorie &amp; Statistik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🟢 Getestet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Reiter je Gewässer, Filter, Kennzahlen mit Datenbasis, Rekorde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lokal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Sessions &amp; Route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🟢 Getestet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Start/Ende, Pausen, Route mit Rückblick (bei geöffneter App)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Hintergrund-GPS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Native App-Hülle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Entscheidung (P3)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Wetter, Warnungen, Beißfenster, Kalender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🟢 Getestet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Open-Meteo, DWD über Bright Sky, eigene Beißfenster, .ics-Export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Kommerzielle Nutzung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Open-Meteo-Lizenz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Bei Kommerz neu bewerten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Pegel am Standort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3A500"/>
                          </a:solidFill>
                        </a:rPr>
                        <a:t>🟡 Ungeprüft (live)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Bundeswasserstraßen + NRW, Unit-Tests grün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Live-Prüfung, andere Länder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PEGELONLINE, OpenHygon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Gerätetest am Pegel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ussnote-98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Grün = automatisierter Test grün und/oder live vorgeführt. Gelb unterscheidet „teilweise implementiert“ und „ungeprüft“, Rot „nicht implementiert“ und „blockiert“.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Ampel 2/2: Community und Server-Funktionen fehlen – der Engpass ist Infrastruktur</a:t>
            </a:r>
            <a:endParaRPr lang="en-US" sz="2400" dirty="0"/>
          </a:p>
        </p:txBody>
      </p:sp>
      <p:graphicFrame>
        <p:nvGraphicFramePr>
          <p:cNvPr id="6" name="ampel-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00200"/>
                <a:gridCol w="3154680"/>
                <a:gridCol w="1783080"/>
                <a:gridCol w="14173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Funktionsbereich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Was funktioniert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Was fehlt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Abhängigkeit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Nächster Schritt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Landesrecht 16 Länder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Alle Länder „teilweise geprüft“, Schonzeit-Filter, Warnung beim Erfassen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Berlin LFischG, Abgabe-VO TH/SH/ST/RP, NRW-Reste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Redaktion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Offene Punkte nachtragen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Rote Liste, Gewässerregeln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63B"/>
                          </a:solidFill>
                        </a:rPr>
                        <a:t>🔴 Nicht implementiert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Nur „ganzjährig geschützt“ laut Landesrecht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Daten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Quelle / Vereine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Bedarf klären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Konto &amp; Login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63B"/>
                          </a:solidFill>
                        </a:rPr>
                        <a:t>🔴 Blockiert (Infrastruktur)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Code fertig, E2E mit nachgebildetem Supabase grün, in der App „Demnächst“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Eigener Mailversand + Domain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Brevo, Domain, Supabase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Einrichten, freischalten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Profil, Beiträge, Reaktionen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Profil, Beiträge, Gefällt mir, Kommentare – nur lokal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Freunde, fremde Reaktionen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Konto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Etappe 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Freunde, Teilen, Sync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63B"/>
                          </a:solidFill>
                        </a:rPr>
                        <a:t>🔴 Nicht implementiert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Datenmodell sync-fähig vorbereitet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Server-Logik, Freigaben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Konto + Supabase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Etappe 2/3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Offline-Nutzung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App startet offline, Fangbuch und Recht offline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Karte/Wetter offline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Eigenes Kachel-Hosting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M10 bei Bedarf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Datensicherung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🟢 Getestet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ZIP/JSON mit Prüfsumme, Vorschau, Import Alt-App, Erinnerung, CSV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Cloud-Sicherung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Supabase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Etappe 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Fehler-Monitoring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63B"/>
                          </a:solidFill>
                        </a:rPr>
                        <a:t>🔴 Nicht implementiert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Fehlergrenzen je Bereich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Fehlerberichte aus dem Feld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Sentry o. ä.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Vor öffentlicher Beta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Knoten, Montagen, Köderführung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3A500"/>
                          </a:solidFill>
                        </a:rPr>
                        <a:t>🟡 Ungeprüft (fachlich)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25 animierte Anleitungen, Tests grün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Fachliche Gegenprüfung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Angel-Expertise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Gegenprüfen lassen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PWA, Navigation, Desktop, Dunkel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</a:rPr>
                        <a:t>🟢 Getestet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Installierbar, Updates, axe ohne Befunde, 390 px + Desktop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Echte Geräte-Matrix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Gerätetests iOS/Android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ussnote-100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Konto, Freunde, Teilen und Cloud-Sicherung hängen alle an einem Punkt: eigener Mailversand + Domain + Supabase im Betrieb.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So wurde geprüft: Tests, echter Build und Live-Daten statt Annahmen</a:t>
            </a:r>
            <a:endParaRPr lang="en-US" sz="2400" dirty="0"/>
          </a:p>
        </p:txBody>
      </p:sp>
      <p:sp>
        <p:nvSpPr>
          <p:cNvPr id="3" name="karte-101"/>
          <p:cNvSpPr/>
          <p:nvPr/>
        </p:nvSpPr>
        <p:spPr>
          <a:xfrm>
            <a:off x="502920" y="128016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zahl-102"/>
          <p:cNvSpPr txBox="1"/>
          <p:nvPr/>
        </p:nvSpPr>
        <p:spPr>
          <a:xfrm>
            <a:off x="777240" y="1417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9E5B"/>
                </a:solidFill>
              </a:rPr>
              <a:t>180</a:t>
            </a:r>
            <a:endParaRPr lang="en-US" sz="5400" dirty="0"/>
          </a:p>
        </p:txBody>
      </p:sp>
      <p:sp>
        <p:nvSpPr>
          <p:cNvPr id="5" name="label-103"/>
          <p:cNvSpPr txBox="1"/>
          <p:nvPr/>
        </p:nvSpPr>
        <p:spPr>
          <a:xfrm>
            <a:off x="77724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End-to-End-Tests bestanden</a:t>
            </a:r>
            <a:endParaRPr lang="en-US" sz="1500" dirty="0"/>
          </a:p>
        </p:txBody>
      </p:sp>
      <p:sp>
        <p:nvSpPr>
          <p:cNvPr id="6" name="detail-104"/>
          <p:cNvSpPr txBox="1"/>
          <p:nvPr/>
        </p:nvSpPr>
        <p:spPr>
          <a:xfrm>
            <a:off x="777240" y="26700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bewusst übersprungen (nur mobil bzw. nur Desktop). Chromium, mobil 390 px und Desktop.</a:t>
            </a:r>
            <a:endParaRPr lang="en-US" sz="1200" dirty="0"/>
          </a:p>
        </p:txBody>
      </p:sp>
      <p:sp>
        <p:nvSpPr>
          <p:cNvPr id="7" name="karte-105"/>
          <p:cNvSpPr/>
          <p:nvPr/>
        </p:nvSpPr>
        <p:spPr>
          <a:xfrm>
            <a:off x="4297680" y="128016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zahl-106"/>
          <p:cNvSpPr txBox="1"/>
          <p:nvPr/>
        </p:nvSpPr>
        <p:spPr>
          <a:xfrm>
            <a:off x="4572000" y="1417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3A500"/>
                </a:solidFill>
              </a:rPr>
              <a:t>420</a:t>
            </a:r>
            <a:endParaRPr lang="en-US" sz="5400" dirty="0"/>
          </a:p>
        </p:txBody>
      </p:sp>
      <p:sp>
        <p:nvSpPr>
          <p:cNvPr id="9" name="label-107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Unit-Tests bestanden</a:t>
            </a:r>
            <a:endParaRPr lang="en-US" sz="1500" dirty="0"/>
          </a:p>
        </p:txBody>
      </p:sp>
      <p:sp>
        <p:nvSpPr>
          <p:cNvPr id="10" name="detail-108"/>
          <p:cNvSpPr txBox="1"/>
          <p:nvPr/>
        </p:nvSpPr>
        <p:spPr>
          <a:xfrm>
            <a:off x="4572000" y="26700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73 Testdateien. Aber: 6 unbehandelte Fehler in AppShell.test.tsx („IndexedDB API missing“) → „pnpm test“ endet mit Fehlercode.</a:t>
            </a:r>
            <a:endParaRPr lang="en-US" sz="1200" dirty="0"/>
          </a:p>
        </p:txBody>
      </p:sp>
      <p:sp>
        <p:nvSpPr>
          <p:cNvPr id="11" name="karte-109"/>
          <p:cNvSpPr/>
          <p:nvPr/>
        </p:nvSpPr>
        <p:spPr>
          <a:xfrm>
            <a:off x="8092440" y="1280160"/>
            <a:ext cx="356616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zahl-110"/>
          <p:cNvSpPr txBox="1"/>
          <p:nvPr/>
        </p:nvSpPr>
        <p:spPr>
          <a:xfrm>
            <a:off x="8366760" y="1417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9E5B"/>
                </a:solidFill>
              </a:rPr>
              <a:t>0</a:t>
            </a:r>
            <a:endParaRPr lang="en-US" sz="5400" dirty="0"/>
          </a:p>
        </p:txBody>
      </p:sp>
      <p:sp>
        <p:nvSpPr>
          <p:cNvPr id="13" name="label-111"/>
          <p:cNvSpPr txBox="1"/>
          <p:nvPr/>
        </p:nvSpPr>
        <p:spPr>
          <a:xfrm>
            <a:off x="83667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Fehler in Typprüfung und Lint</a:t>
            </a:r>
            <a:endParaRPr lang="en-US" sz="1500" dirty="0"/>
          </a:p>
        </p:txBody>
      </p:sp>
      <p:sp>
        <p:nvSpPr>
          <p:cNvPr id="14" name="detail-112"/>
          <p:cNvSpPr txBox="1"/>
          <p:nvPr/>
        </p:nvSpPr>
        <p:spPr>
          <a:xfrm>
            <a:off x="8366760" y="26700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TypeScript strict und ESLint ohne Warnungen.</a:t>
            </a:r>
            <a:endParaRPr lang="en-US" sz="1200" dirty="0"/>
          </a:p>
        </p:txBody>
      </p:sp>
      <p:sp>
        <p:nvSpPr>
          <p:cNvPr id="15" name="liste-113"/>
          <p:cNvSpPr txBox="1"/>
          <p:nvPr/>
        </p:nvSpPr>
        <p:spPr>
          <a:xfrm>
            <a:off x="502920" y="3931920"/>
            <a:ext cx="11155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Live-Vorführung: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lokaler Produktionsbuild (vite build), echte Basiskarte (OpenFreeMap), echte Gewässerdaten der veröffentlichten App, echtes Wetter (Open-Meteo) und DWD-Warnungen (Bright Sky).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Testdaten: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 Sessions und 45 Einträge am De Wittsee (Nettetal) als Beispieldaten; GPS-Positionen der Session-Demo simuliert.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Umgebung: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Playwright 1.56 erwartet Chromium-Build 1194, installiert ist 1243 – für die Tests per Verknüpfung gelöst, kein App-Fehler. CLAUDE.md nennt noch 1194.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Nicht geprüft: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echte iPhones/Android-Geräte, Safari und Firefox, Installation als Homescreen-App.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Gewässerkarte: ganz Deutschland, eigene Spots und Fänge auf einen Blick</a:t>
            </a:r>
            <a:endParaRPr lang="en-US" sz="2400" dirty="0"/>
          </a:p>
        </p:txBody>
      </p:sp>
      <p:sp>
        <p:nvSpPr>
          <p:cNvPr id="3" name="status-114"/>
          <p:cNvSpPr/>
          <p:nvPr/>
        </p:nvSpPr>
        <p:spPr>
          <a:xfrm>
            <a:off x="502920" y="114300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115"/>
          <p:cNvSpPr txBox="1"/>
          <p:nvPr/>
        </p:nvSpPr>
        <p:spPr>
          <a:xfrm>
            <a:off x="50292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Karte, Suche, Spots, Heatmap</a:t>
            </a:r>
            <a:endParaRPr lang="en-US" sz="1000" dirty="0"/>
          </a:p>
        </p:txBody>
      </p:sp>
      <p:sp>
        <p:nvSpPr>
          <p:cNvPr id="5" name="status-116"/>
          <p:cNvSpPr/>
          <p:nvPr/>
        </p:nvSpPr>
        <p:spPr>
          <a:xfrm>
            <a:off x="3291840" y="114300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6" name="statustext-117"/>
          <p:cNvSpPr txBox="1"/>
          <p:nvPr/>
        </p:nvSpPr>
        <p:spPr>
          <a:xfrm>
            <a:off x="3291840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Offline nur teilweise</a:t>
            </a:r>
            <a:endParaRPr lang="en-US" sz="1000" dirty="0"/>
          </a:p>
        </p:txBody>
      </p:sp>
      <p:sp>
        <p:nvSpPr>
          <p:cNvPr id="7" name="status-118"/>
          <p:cNvSpPr/>
          <p:nvPr/>
        </p:nvSpPr>
        <p:spPr>
          <a:xfrm>
            <a:off x="5166360" y="11430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8" name="statustext-119"/>
          <p:cNvSpPr txBox="1"/>
          <p:nvPr/>
        </p:nvSpPr>
        <p:spPr>
          <a:xfrm>
            <a:off x="51663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Tiefenkarten blockiert</a:t>
            </a:r>
            <a:endParaRPr lang="en-US" sz="1000" dirty="0"/>
          </a:p>
        </p:txBody>
      </p:sp>
      <p:sp>
        <p:nvSpPr>
          <p:cNvPr id="9" name="rahmen-120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screenshot-121" descr="Fänge als Symbole und Zahlenkreise, Angelsteg, Stand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11" name="caption-122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Fänge als Symbole und Zahlenkreise, Angelsteg, Standort</a:t>
            </a:r>
            <a:endParaRPr lang="en-US" sz="1000" dirty="0"/>
          </a:p>
        </p:txBody>
      </p:sp>
      <p:sp>
        <p:nvSpPr>
          <p:cNvPr id="12" name="rahmen-123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screenshot-124" descr="Heatmap mit Warnung „unter 30 Fängen oft Zufall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4" name="caption-125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Heatmap mit Warnung „unter 30 Fängen oft Zufall“</a:t>
            </a:r>
            <a:endParaRPr lang="en-US" sz="1000" dirty="0"/>
          </a:p>
        </p:txBody>
      </p:sp>
      <p:sp>
        <p:nvSpPr>
          <p:cNvPr id="15" name="rahmen-126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screenshot-127" descr="Suche über eigenen Index (kein Fremddienst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7" name="caption-128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Suche über eigenen Index (kein Fremddienst)</a:t>
            </a:r>
            <a:endParaRPr lang="en-US" sz="1000" dirty="0"/>
          </a:p>
        </p:txBody>
      </p:sp>
      <p:sp>
        <p:nvSpPr>
          <p:cNvPr id="18" name="liste-129"/>
          <p:cNvSpPr txBox="1"/>
          <p:nvPr/>
        </p:nvSpPr>
        <p:spPr>
          <a:xfrm>
            <a:off x="681228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Basiskarte OpenFreeMap, Gewässer aus eigener OSM-Pipeline (16 Länder)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Spots: Angelstelle, Steg, Parkplatz, Zugang, Gefahrenstelle, Sonstiges</a:t>
            </a:r>
            <a:endParaRPr lang="en-US" sz="1300" dirty="0"/>
          </a:p>
        </p:txBody>
      </p:sp>
      <p:pic>
        <p:nvPicPr>
          <p:cNvPr id="6" name="video-13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12280" y="2697480"/>
            <a:ext cx="4846320" cy="2726055"/>
          </a:xfrm>
          <a:prstGeom prst="rect">
            <a:avLst/>
          </a:prstGeom>
        </p:spPr>
      </p:pic>
      <p:sp>
        <p:nvSpPr>
          <p:cNvPr id="20" name="videohinweis-131"/>
          <p:cNvSpPr txBox="1"/>
          <p:nvPr/>
        </p:nvSpPr>
        <p:spPr>
          <a:xfrm>
            <a:off x="6812280" y="5496687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▶ Video 1: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Karte, Heatmap, Profil · Fangpunkt_Video_01_Gewaesserkarte.mp4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Fang erfassen in Sekunden – mit Rechts-Warnung bereits vor dem Speichern</a:t>
            </a:r>
            <a:endParaRPr lang="en-US" sz="2400" dirty="0"/>
          </a:p>
        </p:txBody>
      </p:sp>
      <p:sp>
        <p:nvSpPr>
          <p:cNvPr id="3" name="status-132"/>
          <p:cNvSpPr/>
          <p:nvPr/>
        </p:nvSpPr>
        <p:spPr>
          <a:xfrm>
            <a:off x="502920" y="11430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133"/>
          <p:cNvSpPr txBox="1"/>
          <p:nvPr/>
        </p:nvSpPr>
        <p:spPr>
          <a:xfrm>
            <a:off x="50292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Erfassung, Fotos, Warnung</a:t>
            </a:r>
            <a:endParaRPr lang="en-US" sz="1000" dirty="0"/>
          </a:p>
        </p:txBody>
      </p:sp>
      <p:sp>
        <p:nvSpPr>
          <p:cNvPr id="5" name="rahmen-134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-135" descr="„Fang erfassen“ → Stelle antippen oder eigener Stand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7" name="caption-136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„Fang erfassen“ → Stelle antippen oder eigener Standort</a:t>
            </a:r>
            <a:endParaRPr lang="en-US" sz="1000" dirty="0"/>
          </a:p>
        </p:txBody>
      </p:sp>
      <p:sp>
        <p:nvSpPr>
          <p:cNvPr id="8" name="rahmen-137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screenshot-138" descr="Fang, Fischkontakt, Fehlbiss, Beobachtu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0" name="caption-139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Fang, Fischkontakt, Fehlbiss, Beobachtung</a:t>
            </a:r>
            <a:endParaRPr lang="en-US" sz="1000" dirty="0"/>
          </a:p>
        </p:txBody>
      </p:sp>
      <p:sp>
        <p:nvSpPr>
          <p:cNvPr id="11" name="rahmen-140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screenshot-141" descr="Hecht 38 cm: unter Mindestmaß NRW (45 cm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3" name="caption-142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Hecht 38 cm: unter Mindestmaß NRW (45 cm)</a:t>
            </a:r>
            <a:endParaRPr lang="en-US" sz="1000" dirty="0"/>
          </a:p>
        </p:txBody>
      </p:sp>
      <p:sp>
        <p:nvSpPr>
          <p:cNvPr id="14" name="liste-143"/>
          <p:cNvSpPr txBox="1"/>
          <p:nvPr/>
        </p:nvSpPr>
        <p:spPr>
          <a:xfrm>
            <a:off x="681228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Pflicht nur Art des Ereignisses, Zeit, Ort – alles andere optional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Fotos verkleinert, Kamera- und GPS-Daten entfernt; offline erfassbar</a:t>
            </a:r>
            <a:endParaRPr lang="en-US" sz="1300" dirty="0"/>
          </a:p>
        </p:txBody>
      </p:sp>
      <p:pic>
        <p:nvPicPr>
          <p:cNvPr id="6" name="video-14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12280" y="2697480"/>
            <a:ext cx="4846320" cy="2726055"/>
          </a:xfrm>
          <a:prstGeom prst="rect">
            <a:avLst/>
          </a:prstGeom>
        </p:spPr>
      </p:pic>
      <p:sp>
        <p:nvSpPr>
          <p:cNvPr id="16" name="videohinweis-145"/>
          <p:cNvSpPr txBox="1"/>
          <p:nvPr/>
        </p:nvSpPr>
        <p:spPr>
          <a:xfrm>
            <a:off x="6812280" y="5496687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▶ Video 2: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Hecht 38 cm mit Warnung · Fangpunkt_Video_02_Fang_erfassen.mp4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Fanghistorie und Statistik zeigen Muster – immer mit Datenbasis statt Scheingenauigkeit</a:t>
            </a:r>
            <a:endParaRPr lang="en-US" sz="2400" dirty="0"/>
          </a:p>
        </p:txBody>
      </p:sp>
      <p:sp>
        <p:nvSpPr>
          <p:cNvPr id="3" name="status-146"/>
          <p:cNvSpPr/>
          <p:nvPr/>
        </p:nvSpPr>
        <p:spPr>
          <a:xfrm>
            <a:off x="502920" y="114300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147"/>
          <p:cNvSpPr txBox="1"/>
          <p:nvPr/>
        </p:nvSpPr>
        <p:spPr>
          <a:xfrm>
            <a:off x="50292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Fangbuch &amp; Statistik</a:t>
            </a:r>
            <a:endParaRPr lang="en-US" sz="1000" dirty="0"/>
          </a:p>
        </p:txBody>
      </p:sp>
      <p:sp>
        <p:nvSpPr>
          <p:cNvPr id="5" name="rahmen-148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-149" descr="Fangbuch nach Tagen und Gewäss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7" name="caption-150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Fangbuch nach Tagen und Gewässern</a:t>
            </a:r>
            <a:endParaRPr lang="en-US" sz="1000" dirty="0"/>
          </a:p>
        </p:txBody>
      </p:sp>
      <p:sp>
        <p:nvSpPr>
          <p:cNvPr id="8" name="rahmen-151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screenshot-152" descr="Kennzahlen mit n, Landequote, Fänge/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0" name="caption-153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Kennzahlen mit n, Landequote, Fänge/h</a:t>
            </a:r>
            <a:endParaRPr lang="en-US" sz="1000" dirty="0"/>
          </a:p>
        </p:txBody>
      </p:sp>
      <p:sp>
        <p:nvSpPr>
          <p:cNvPr id="11" name="rahmen-154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screenshot-155" descr="Größte Fische und Session-Verglei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3" name="caption-156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Größte Fische und Session-Vergleich</a:t>
            </a:r>
            <a:endParaRPr lang="en-US" sz="1000" dirty="0"/>
          </a:p>
        </p:txBody>
      </p:sp>
      <p:sp>
        <p:nvSpPr>
          <p:cNvPr id="14" name="liste-157"/>
          <p:cNvSpPr txBox="1"/>
          <p:nvPr/>
        </p:nvSpPr>
        <p:spPr>
          <a:xfrm>
            <a:off x="681228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nach Zeitraum, Art und Gewässer; Köder ohne „Bester“-Rangliste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Mindestmengen gegen Irreführung (z. B. Fänge/h erst ab 1 h)</a:t>
            </a:r>
            <a:endParaRPr lang="en-US" sz="1300" dirty="0"/>
          </a:p>
        </p:txBody>
      </p:sp>
      <p:pic>
        <p:nvPicPr>
          <p:cNvPr id="6" name="video-15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12280" y="2697480"/>
            <a:ext cx="4846320" cy="2726055"/>
          </a:xfrm>
          <a:prstGeom prst="rect">
            <a:avLst/>
          </a:prstGeom>
        </p:spPr>
      </p:pic>
      <p:sp>
        <p:nvSpPr>
          <p:cNvPr id="16" name="videohinweis-159"/>
          <p:cNvSpPr txBox="1"/>
          <p:nvPr/>
        </p:nvSpPr>
        <p:spPr>
          <a:xfrm>
            <a:off x="6812280" y="5496687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▶ Video 5: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Filter „Zander“ · Fangpunkt_Video_05_Fangbuch_Statistik.mp4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Sessions zeichnen die Route auf und spielen den Angeltag als Rückblick ab</a:t>
            </a:r>
            <a:endParaRPr lang="en-US" sz="2400" dirty="0"/>
          </a:p>
        </p:txBody>
      </p:sp>
      <p:sp>
        <p:nvSpPr>
          <p:cNvPr id="3" name="status-160"/>
          <p:cNvSpPr/>
          <p:nvPr/>
        </p:nvSpPr>
        <p:spPr>
          <a:xfrm>
            <a:off x="502920" y="11430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161"/>
          <p:cNvSpPr txBox="1"/>
          <p:nvPr/>
        </p:nvSpPr>
        <p:spPr>
          <a:xfrm>
            <a:off x="50292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Session, Route, Rückblick</a:t>
            </a:r>
            <a:endParaRPr lang="en-US" sz="1000" dirty="0"/>
          </a:p>
        </p:txBody>
      </p:sp>
      <p:sp>
        <p:nvSpPr>
          <p:cNvPr id="5" name="status-162"/>
          <p:cNvSpPr/>
          <p:nvPr/>
        </p:nvSpPr>
        <p:spPr>
          <a:xfrm>
            <a:off x="3017520" y="1143000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6" name="statustext-163"/>
          <p:cNvSpPr txBox="1"/>
          <p:nvPr/>
        </p:nvSpPr>
        <p:spPr>
          <a:xfrm>
            <a:off x="3017520" y="1143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Kein Hintergrund-GPS (PWA-Grenze)</a:t>
            </a:r>
            <a:endParaRPr lang="en-US" sz="1000" dirty="0"/>
          </a:p>
        </p:txBody>
      </p:sp>
      <p:sp>
        <p:nvSpPr>
          <p:cNvPr id="7" name="rahmen-164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shot-165" descr="Sessions mit Dauer, Einträgen,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9" name="caption-166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Sessions mit Dauer, Einträgen, Route</a:t>
            </a:r>
            <a:endParaRPr lang="en-US" sz="1000" dirty="0"/>
          </a:p>
        </p:txBody>
      </p:sp>
      <p:sp>
        <p:nvSpPr>
          <p:cNvPr id="10" name="rahmen-167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creenshot-168" descr="Rückblick: Route, Lücke bleibt off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2" name="caption-169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Rückblick: Route, Lücke bleibt offen</a:t>
            </a:r>
            <a:endParaRPr lang="en-US" sz="1000" dirty="0"/>
          </a:p>
        </p:txBody>
      </p:sp>
      <p:pic>
        <p:nvPicPr>
          <p:cNvPr id="5" name="video-17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46320" y="1645920"/>
            <a:ext cx="3337560" cy="1877378"/>
          </a:xfrm>
          <a:prstGeom prst="rect">
            <a:avLst/>
          </a:prstGeom>
        </p:spPr>
      </p:pic>
      <p:sp>
        <p:nvSpPr>
          <p:cNvPr id="14" name="videohinweis-171"/>
          <p:cNvSpPr txBox="1"/>
          <p:nvPr/>
        </p:nvSpPr>
        <p:spPr>
          <a:xfrm>
            <a:off x="4846320" y="359645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▶ Video 3: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live aufgezeichnet · Fangpunkt_Video_03_Session_Route.mp4</a:t>
            </a:r>
            <a:endParaRPr lang="en-US" sz="1000" dirty="0"/>
          </a:p>
        </p:txBody>
      </p:sp>
      <p:pic>
        <p:nvPicPr>
          <p:cNvPr id="8" name="video-172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321040" y="1645920"/>
            <a:ext cx="3337560" cy="1877378"/>
          </a:xfrm>
          <a:prstGeom prst="rect">
            <a:avLst/>
          </a:prstGeom>
        </p:spPr>
      </p:pic>
      <p:sp>
        <p:nvSpPr>
          <p:cNvPr id="16" name="videohinweis-173"/>
          <p:cNvSpPr txBox="1"/>
          <p:nvPr/>
        </p:nvSpPr>
        <p:spPr>
          <a:xfrm>
            <a:off x="8321040" y="359645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▶ Video 4: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Wiedergabe · Fangpunkt_Video_04_Session_Rueckblick.mp4</a:t>
            </a:r>
            <a:endParaRPr lang="en-US" sz="1000" dirty="0"/>
          </a:p>
        </p:txBody>
      </p:sp>
      <p:sp>
        <p:nvSpPr>
          <p:cNvPr id="17" name="liste-174"/>
          <p:cNvSpPr txBox="1"/>
          <p:nvPr/>
        </p:nvSpPr>
        <p:spPr>
          <a:xfrm>
            <a:off x="4846320" y="4251960"/>
            <a:ext cx="681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Route nur bei geöffneter App; Lücken (App im Hintergrund) werden nie verbunden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Fänge der Session erscheinen zum richtigen Zeitpunkt auf der Karte; Highlights und Chronik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Video 03: GPS-Positionen simuliert, Aufzeichnung und Rückblick sind die echte App (Zeitraffer)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Wetter, amtliche Warnungen, Beißfenster und Angelkalender in einem Bereich</a:t>
            </a:r>
            <a:endParaRPr lang="en-US" sz="2400" dirty="0"/>
          </a:p>
        </p:txBody>
      </p:sp>
      <p:sp>
        <p:nvSpPr>
          <p:cNvPr id="3" name="status-175"/>
          <p:cNvSpPr/>
          <p:nvPr/>
        </p:nvSpPr>
        <p:spPr>
          <a:xfrm>
            <a:off x="502920" y="114300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176"/>
          <p:cNvSpPr txBox="1"/>
          <p:nvPr/>
        </p:nvSpPr>
        <p:spPr>
          <a:xfrm>
            <a:off x="5029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Vorhersage, Warnungen, Kalender</a:t>
            </a:r>
            <a:endParaRPr lang="en-US" sz="1000" dirty="0"/>
          </a:p>
        </p:txBody>
      </p:sp>
      <p:sp>
        <p:nvSpPr>
          <p:cNvPr id="5" name="status-177"/>
          <p:cNvSpPr/>
          <p:nvPr/>
        </p:nvSpPr>
        <p:spPr>
          <a:xfrm>
            <a:off x="3383280" y="11430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6" name="statustext-178"/>
          <p:cNvSpPr txBox="1"/>
          <p:nvPr/>
        </p:nvSpPr>
        <p:spPr>
          <a:xfrm>
            <a:off x="33832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Pegel live ungeprüft</a:t>
            </a:r>
            <a:endParaRPr lang="en-US" sz="1000" dirty="0"/>
          </a:p>
        </p:txBody>
      </p:sp>
      <p:sp>
        <p:nvSpPr>
          <p:cNvPr id="7" name="rahmen-179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shot-180" descr="Luftdruckverlauf und 7-Tage-Vorhers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9" name="caption-181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Luftdruckverlauf und 7-Tage-Vorhersage</a:t>
            </a:r>
            <a:endParaRPr lang="en-US" sz="1000" dirty="0"/>
          </a:p>
        </p:txBody>
      </p:sp>
      <p:sp>
        <p:nvSpPr>
          <p:cNvPr id="10" name="rahmen-182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creenshot-183" descr="Eigene Beißfenster aus dem Fangbu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2" name="caption-184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Eigene Beißfenster aus dem Fangbuch</a:t>
            </a:r>
            <a:endParaRPr lang="en-US" sz="1000" dirty="0"/>
          </a:p>
        </p:txBody>
      </p:sp>
      <p:sp>
        <p:nvSpPr>
          <p:cNvPr id="13" name="rahmen-185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screenshot-186" descr="Angelkalender mit Terminen, .ics-Ex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5" name="caption-187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Angelkalender mit Terminen, .ics-Export</a:t>
            </a:r>
            <a:endParaRPr lang="en-US" sz="1000" dirty="0"/>
          </a:p>
        </p:txBody>
      </p:sp>
      <p:sp>
        <p:nvSpPr>
          <p:cNvPr id="16" name="liste-188"/>
          <p:cNvSpPr txBox="1"/>
          <p:nvPr/>
        </p:nvSpPr>
        <p:spPr>
          <a:xfrm>
            <a:off x="681228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Open-Meteo (nur nicht-kommerziell kostenlos), DWD-Warnungen über Bright Sky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Solunar offline berechnet, als „Theorie, nicht belegt“ gekennzeichnet</a:t>
            </a:r>
            <a:endParaRPr lang="en-US" sz="1300" dirty="0"/>
          </a:p>
        </p:txBody>
      </p:sp>
      <p:pic>
        <p:nvPicPr>
          <p:cNvPr id="6" name="video-189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12280" y="2697480"/>
            <a:ext cx="4846320" cy="2726055"/>
          </a:xfrm>
          <a:prstGeom prst="rect">
            <a:avLst/>
          </a:prstGeom>
        </p:spPr>
      </p:pic>
      <p:sp>
        <p:nvSpPr>
          <p:cNvPr id="18" name="videohinweis-190"/>
          <p:cNvSpPr txBox="1"/>
          <p:nvPr/>
        </p:nvSpPr>
        <p:spPr>
          <a:xfrm>
            <a:off x="6812280" y="5496687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▶ Video 6: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Warnung, Vorhersage, Kalender · Fangpunkt_Video_06_Wetter_Kalender.mp4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Fischereirecht aller 16 Länder – mit Quelle, Paragraf und Prüfdatum</a:t>
            </a:r>
            <a:endParaRPr lang="en-US" sz="2400" dirty="0"/>
          </a:p>
        </p:txBody>
      </p:sp>
      <p:sp>
        <p:nvSpPr>
          <p:cNvPr id="3" name="status-191"/>
          <p:cNvSpPr/>
          <p:nvPr/>
        </p:nvSpPr>
        <p:spPr>
          <a:xfrm>
            <a:off x="502920" y="11430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4" name="statustext-192"/>
          <p:cNvSpPr txBox="1"/>
          <p:nvPr/>
        </p:nvSpPr>
        <p:spPr>
          <a:xfrm>
            <a:off x="50292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 Länder „teilweise geprüft“</a:t>
            </a:r>
            <a:endParaRPr lang="en-US" sz="1000" dirty="0"/>
          </a:p>
        </p:txBody>
      </p:sp>
      <p:sp>
        <p:nvSpPr>
          <p:cNvPr id="5" name="status-193"/>
          <p:cNvSpPr/>
          <p:nvPr/>
        </p:nvSpPr>
        <p:spPr>
          <a:xfrm>
            <a:off x="3017520" y="114300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statustext-194"/>
          <p:cNvSpPr txBox="1"/>
          <p:nvPr/>
        </p:nvSpPr>
        <p:spPr>
          <a:xfrm>
            <a:off x="301752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Warnung &amp; Schonzeit-Filter</a:t>
            </a:r>
            <a:endParaRPr lang="en-US" sz="1000" dirty="0"/>
          </a:p>
        </p:txBody>
      </p:sp>
      <p:sp>
        <p:nvSpPr>
          <p:cNvPr id="7" name="status-195"/>
          <p:cNvSpPr/>
          <p:nvPr/>
        </p:nvSpPr>
        <p:spPr>
          <a:xfrm>
            <a:off x="534924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8" name="statustext-196"/>
          <p:cNvSpPr txBox="1"/>
          <p:nvPr/>
        </p:nvSpPr>
        <p:spPr>
          <a:xfrm>
            <a:off x="534924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Rote Liste fehlt</a:t>
            </a:r>
            <a:endParaRPr lang="en-US" sz="1000" dirty="0"/>
          </a:p>
        </p:txBody>
      </p:sp>
      <p:sp>
        <p:nvSpPr>
          <p:cNvPr id="9" name="rahmen-197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screenshot-198" descr="Übersicht mit Status je 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11" name="caption-199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Übersicht mit Status je Land</a:t>
            </a:r>
            <a:endParaRPr lang="en-US" sz="1000" dirty="0"/>
          </a:p>
        </p:txBody>
      </p:sp>
      <p:sp>
        <p:nvSpPr>
          <p:cNvPr id="12" name="rahmen-200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screenshot-201" descr="NRW: offene Punkte werden genan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4" name="caption-202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NRW: offene Punkte werden genannt</a:t>
            </a:r>
            <a:endParaRPr lang="en-US" sz="1000" dirty="0"/>
          </a:p>
        </p:txBody>
      </p:sp>
      <p:sp>
        <p:nvSpPr>
          <p:cNvPr id="15" name="rahmen-203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screenshot-204" descr="„Nur Fische in der Schonzeit“ (heut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7" name="caption-205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„Nur Fische in der Schonzeit“ (heute)</a:t>
            </a:r>
            <a:endParaRPr lang="en-US" sz="1000" dirty="0"/>
          </a:p>
        </p:txBody>
      </p:sp>
      <p:sp>
        <p:nvSpPr>
          <p:cNvPr id="18" name="liste-206"/>
          <p:cNvSpPr txBox="1"/>
          <p:nvPr/>
        </p:nvSpPr>
        <p:spPr>
          <a:xfrm>
            <a:off x="681228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Bundesland per Standort (Landesgrenzen aus OSM), an Grenzen Nachfrage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Hinweis „keine Rechtsauskunft“ auf jeder Rechtsansicht</a:t>
            </a:r>
            <a:endParaRPr lang="en-US" sz="1300" dirty="0"/>
          </a:p>
        </p:txBody>
      </p:sp>
      <p:pic>
        <p:nvPicPr>
          <p:cNvPr id="6" name="video-207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12280" y="2697480"/>
            <a:ext cx="4846320" cy="2726055"/>
          </a:xfrm>
          <a:prstGeom prst="rect">
            <a:avLst/>
          </a:prstGeom>
        </p:spPr>
      </p:pic>
      <p:sp>
        <p:nvSpPr>
          <p:cNvPr id="20" name="videohinweis-208"/>
          <p:cNvSpPr txBox="1"/>
          <p:nvPr/>
        </p:nvSpPr>
        <p:spPr>
          <a:xfrm>
            <a:off x="6812280" y="5496687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▶ Video 7: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Artsuche, Schonzeit · Fangpunkt_Video_07_Fischereirecht.mp4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Gewässerinformationen: was wir wissen, zeigen wir mit Quelle – den Rest als „unbekannt“</a:t>
            </a:r>
            <a:endParaRPr lang="en-US" sz="2400" dirty="0"/>
          </a:p>
        </p:txBody>
      </p:sp>
      <p:sp>
        <p:nvSpPr>
          <p:cNvPr id="3" name="status-209"/>
          <p:cNvSpPr/>
          <p:nvPr/>
        </p:nvSpPr>
        <p:spPr>
          <a:xfrm>
            <a:off x="502920" y="11430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4" name="statustext-210"/>
          <p:cNvSpPr txBox="1"/>
          <p:nvPr/>
        </p:nvSpPr>
        <p:spPr>
          <a:xfrm>
            <a:off x="5029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Angelkarten-Links teilweise</a:t>
            </a:r>
            <a:endParaRPr lang="en-US" sz="1000" dirty="0"/>
          </a:p>
        </p:txBody>
      </p:sp>
      <p:sp>
        <p:nvSpPr>
          <p:cNvPr id="5" name="status-211"/>
          <p:cNvSpPr/>
          <p:nvPr/>
        </p:nvSpPr>
        <p:spPr>
          <a:xfrm>
            <a:off x="2926080" y="114300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6" name="statustext-212"/>
          <p:cNvSpPr txBox="1"/>
          <p:nvPr/>
        </p:nvSpPr>
        <p:spPr>
          <a:xfrm>
            <a:off x="292608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Tiefen, Fischarten je Gewässer</a:t>
            </a:r>
            <a:endParaRPr lang="en-US" sz="1000" dirty="0"/>
          </a:p>
        </p:txBody>
      </p:sp>
      <p:sp>
        <p:nvSpPr>
          <p:cNvPr id="7" name="rahmen-213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shot-214" descr="Profil: Fläche, Lage, Angelregel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9" name="caption-215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Profil: Fläche, Lage, Angelregeln</a:t>
            </a:r>
            <a:endParaRPr lang="en-US" sz="1000" dirty="0"/>
          </a:p>
        </p:txBody>
      </p:sp>
      <p:sp>
        <p:nvSpPr>
          <p:cNvPr id="10" name="rahmen-216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creenshot-217" descr="„Gewässerkarte“: Landesverbände, eigener 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2" name="caption-218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„Gewässerkarte“: Landesverbände, eigener Link</a:t>
            </a:r>
            <a:endParaRPr lang="en-US" sz="1000" dirty="0"/>
          </a:p>
        </p:txBody>
      </p:sp>
      <p:sp>
        <p:nvSpPr>
          <p:cNvPr id="13" name="stufe-219"/>
          <p:cNvSpPr/>
          <p:nvPr/>
        </p:nvSpPr>
        <p:spPr>
          <a:xfrm>
            <a:off x="4937760" y="1691640"/>
            <a:ext cx="6720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unkt-220"/>
          <p:cNvSpPr/>
          <p:nvPr/>
        </p:nvSpPr>
        <p:spPr>
          <a:xfrm>
            <a:off x="5120640" y="1920240"/>
            <a:ext cx="274320" cy="2743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tufentitel-221"/>
          <p:cNvSpPr txBox="1"/>
          <p:nvPr/>
        </p:nvSpPr>
        <p:spPr>
          <a:xfrm>
            <a:off x="5577840" y="1764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Stufe 1 – Geografie</a:t>
            </a:r>
            <a:endParaRPr lang="en-US" sz="1400" dirty="0"/>
          </a:p>
        </p:txBody>
      </p:sp>
      <p:sp>
        <p:nvSpPr>
          <p:cNvPr id="16" name="stufentext-222"/>
          <p:cNvSpPr txBox="1"/>
          <p:nvPr/>
        </p:nvSpPr>
        <p:spPr>
          <a:xfrm>
            <a:off x="5577840" y="20574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Lage, Umriss, Fläche, Ort aus OSM</a:t>
            </a:r>
            <a:endParaRPr lang="en-US" sz="1200" dirty="0"/>
          </a:p>
        </p:txBody>
      </p:sp>
      <p:sp>
        <p:nvSpPr>
          <p:cNvPr id="17" name="stufe-223"/>
          <p:cNvSpPr/>
          <p:nvPr/>
        </p:nvSpPr>
        <p:spPr>
          <a:xfrm>
            <a:off x="4937760" y="2560320"/>
            <a:ext cx="6720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unkt-224"/>
          <p:cNvSpPr/>
          <p:nvPr/>
        </p:nvSpPr>
        <p:spPr>
          <a:xfrm>
            <a:off x="5120640" y="2788920"/>
            <a:ext cx="274320" cy="274320"/>
          </a:xfrm>
          <a:prstGeom prst="ellipse">
            <a:avLst/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19" name="stufentitel-225"/>
          <p:cNvSpPr txBox="1"/>
          <p:nvPr/>
        </p:nvSpPr>
        <p:spPr>
          <a:xfrm>
            <a:off x="5577840" y="26334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Stufe 2 – Details</a:t>
            </a:r>
            <a:endParaRPr lang="en-US" sz="1400" dirty="0"/>
          </a:p>
        </p:txBody>
      </p:sp>
      <p:sp>
        <p:nvSpPr>
          <p:cNvPr id="20" name="stufentext-226"/>
          <p:cNvSpPr txBox="1"/>
          <p:nvPr/>
        </p:nvSpPr>
        <p:spPr>
          <a:xfrm>
            <a:off x="5577840" y="2926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Fischarten je Gewässer: keine geprüften Daten</a:t>
            </a:r>
            <a:endParaRPr lang="en-US" sz="1200" dirty="0"/>
          </a:p>
        </p:txBody>
      </p:sp>
      <p:sp>
        <p:nvSpPr>
          <p:cNvPr id="21" name="stufe-227"/>
          <p:cNvSpPr/>
          <p:nvPr/>
        </p:nvSpPr>
        <p:spPr>
          <a:xfrm>
            <a:off x="4937760" y="3429000"/>
            <a:ext cx="6720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punkt-228"/>
          <p:cNvSpPr/>
          <p:nvPr/>
        </p:nvSpPr>
        <p:spPr>
          <a:xfrm>
            <a:off x="5120640" y="3657600"/>
            <a:ext cx="274320" cy="274320"/>
          </a:xfrm>
          <a:prstGeom prst="ellipse">
            <a:avLst/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23" name="stufentitel-229"/>
          <p:cNvSpPr txBox="1"/>
          <p:nvPr/>
        </p:nvSpPr>
        <p:spPr>
          <a:xfrm>
            <a:off x="5577840" y="35021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Stufe 3 – Angelinfo</a:t>
            </a:r>
            <a:endParaRPr lang="en-US" sz="1400" dirty="0"/>
          </a:p>
        </p:txBody>
      </p:sp>
      <p:sp>
        <p:nvSpPr>
          <p:cNvPr id="24" name="stufentext-230"/>
          <p:cNvSpPr txBox="1"/>
          <p:nvPr/>
        </p:nvSpPr>
        <p:spPr>
          <a:xfrm>
            <a:off x="5577840" y="37947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21 Gewässer mit geprüftem Link, Landesverbände in 15 Ländern</a:t>
            </a:r>
            <a:endParaRPr lang="en-US" sz="1200" dirty="0"/>
          </a:p>
        </p:txBody>
      </p:sp>
      <p:sp>
        <p:nvSpPr>
          <p:cNvPr id="25" name="stufe-231"/>
          <p:cNvSpPr/>
          <p:nvPr/>
        </p:nvSpPr>
        <p:spPr>
          <a:xfrm>
            <a:off x="4937760" y="4297680"/>
            <a:ext cx="6720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unkt-232"/>
          <p:cNvSpPr/>
          <p:nvPr/>
        </p:nvSpPr>
        <p:spPr>
          <a:xfrm>
            <a:off x="5120640" y="4526280"/>
            <a:ext cx="274320" cy="274320"/>
          </a:xfrm>
          <a:prstGeom prst="ellipse">
            <a:avLst/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27" name="stufentitel-233"/>
          <p:cNvSpPr txBox="1"/>
          <p:nvPr/>
        </p:nvSpPr>
        <p:spPr>
          <a:xfrm>
            <a:off x="5577840" y="43708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Stufe 4 – Rechtlich geklärt</a:t>
            </a:r>
            <a:endParaRPr lang="en-US" sz="1400" dirty="0"/>
          </a:p>
        </p:txBody>
      </p:sp>
      <p:sp>
        <p:nvSpPr>
          <p:cNvPr id="28" name="stufentext-234"/>
          <p:cNvSpPr txBox="1"/>
          <p:nvPr/>
        </p:nvSpPr>
        <p:spPr>
          <a:xfrm>
            <a:off x="5577840" y="4663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Gewässerregeln/Zonen: keine offenen Daten</a:t>
            </a:r>
            <a:endParaRPr lang="en-US" sz="1200" dirty="0"/>
          </a:p>
        </p:txBody>
      </p:sp>
      <p:sp>
        <p:nvSpPr>
          <p:cNvPr id="29" name="stufe-235"/>
          <p:cNvSpPr/>
          <p:nvPr/>
        </p:nvSpPr>
        <p:spPr>
          <a:xfrm>
            <a:off x="4937760" y="5166360"/>
            <a:ext cx="6720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unkt-236"/>
          <p:cNvSpPr/>
          <p:nvPr/>
        </p:nvSpPr>
        <p:spPr>
          <a:xfrm>
            <a:off x="5120640" y="5394960"/>
            <a:ext cx="274320" cy="274320"/>
          </a:xfrm>
          <a:prstGeom prst="ellipse">
            <a:avLst/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31" name="stufentitel-237"/>
          <p:cNvSpPr txBox="1"/>
          <p:nvPr/>
        </p:nvSpPr>
        <p:spPr>
          <a:xfrm>
            <a:off x="5577840" y="52395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Tiefenkarte</a:t>
            </a:r>
            <a:endParaRPr lang="en-US" sz="1400" dirty="0"/>
          </a:p>
        </p:txBody>
      </p:sp>
      <p:sp>
        <p:nvSpPr>
          <p:cNvPr id="32" name="stufentext-238"/>
          <p:cNvSpPr txBox="1"/>
          <p:nvPr/>
        </p:nvSpPr>
        <p:spPr>
          <a:xfrm>
            <a:off x="5577840" y="5532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Nur mit Lizenz – Altdaten HH werden nicht übernommen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Knoten, Montagen und Köderführung: 25 animierte Anleitungen – fachlich noch zu prüfen</a:t>
            </a:r>
            <a:endParaRPr lang="en-US" sz="2400" dirty="0"/>
          </a:p>
        </p:txBody>
      </p:sp>
      <p:sp>
        <p:nvSpPr>
          <p:cNvPr id="3" name="status-239"/>
          <p:cNvSpPr/>
          <p:nvPr/>
        </p:nvSpPr>
        <p:spPr>
          <a:xfrm>
            <a:off x="502920" y="11430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240"/>
          <p:cNvSpPr txBox="1"/>
          <p:nvPr/>
        </p:nvSpPr>
        <p:spPr>
          <a:xfrm>
            <a:off x="50292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Technik &amp; Animation</a:t>
            </a:r>
            <a:endParaRPr lang="en-US" sz="1000" dirty="0"/>
          </a:p>
        </p:txBody>
      </p:sp>
      <p:sp>
        <p:nvSpPr>
          <p:cNvPr id="5" name="status-241"/>
          <p:cNvSpPr/>
          <p:nvPr/>
        </p:nvSpPr>
        <p:spPr>
          <a:xfrm>
            <a:off x="2651760" y="11430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6" name="statustext-242"/>
          <p:cNvSpPr txBox="1"/>
          <p:nvPr/>
        </p:nvSpPr>
        <p:spPr>
          <a:xfrm>
            <a:off x="265176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Inhalt ungeprüft</a:t>
            </a:r>
            <a:endParaRPr lang="en-US" sz="1000" dirty="0"/>
          </a:p>
        </p:txBody>
      </p:sp>
      <p:sp>
        <p:nvSpPr>
          <p:cNvPr id="7" name="rahmen-243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shot-244" descr="Verbesserter Clinchknoten (gegengeprüf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9" name="caption-245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Verbesserter Clinchknoten (gegengeprüft)</a:t>
            </a:r>
            <a:endParaRPr lang="en-US" sz="1000" dirty="0"/>
          </a:p>
        </p:txBody>
      </p:sp>
      <p:sp>
        <p:nvSpPr>
          <p:cNvPr id="10" name="rahmen-246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creenshot-247" descr="Drop-Shot-Rig mit „Wofür?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2" name="caption-248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Drop-Shot-Rig mit „Wofür?“</a:t>
            </a:r>
            <a:endParaRPr lang="en-US" sz="1000" dirty="0"/>
          </a:p>
        </p:txBody>
      </p:sp>
      <p:sp>
        <p:nvSpPr>
          <p:cNvPr id="13" name="rahmen-249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screenshot-250" descr="Jiggen: Rute und Köderbahn animi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5" name="caption-251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Jiggen: Rute und Köderbahn animiert</a:t>
            </a:r>
            <a:endParaRPr lang="en-US" sz="1000" dirty="0"/>
          </a:p>
        </p:txBody>
      </p:sp>
      <p:sp>
        <p:nvSpPr>
          <p:cNvPr id="16" name="liste-252"/>
          <p:cNvSpPr txBox="1"/>
          <p:nvPr/>
        </p:nvSpPr>
        <p:spPr>
          <a:xfrm>
            <a:off x="6812280" y="169164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9 Knoten: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Clinch, Palomar, Uni vom Nutzer gegengeprüft; 6 weitere offen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8 Montagen: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Carolina-, Texas-, Drop-Shot-, Free-Rig, Laufblei, Haar, feste Pose, Laufpose – ungeprüft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8 Köderführungen: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Jiggen, Faulenzen, Schleifen, Vertikal, Einkurbeln, Stop-and-Go, Twitchen, Jerken – ungeprüft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Eigene Zeichnungen,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fremden Grafiken; bei reduzierter Bewegung statisch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Konto und Community: Oberfläche ist da, Freischaltung scheitert am Mailversand</a:t>
            </a:r>
            <a:endParaRPr lang="en-US" sz="2400" dirty="0"/>
          </a:p>
        </p:txBody>
      </p:sp>
      <p:sp>
        <p:nvSpPr>
          <p:cNvPr id="3" name="status-253"/>
          <p:cNvSpPr/>
          <p:nvPr/>
        </p:nvSpPr>
        <p:spPr>
          <a:xfrm>
            <a:off x="502920" y="11430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4" name="statustext-254"/>
          <p:cNvSpPr txBox="1"/>
          <p:nvPr/>
        </p:nvSpPr>
        <p:spPr>
          <a:xfrm>
            <a:off x="5029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Profil &amp; Beiträge nur lokal</a:t>
            </a:r>
            <a:endParaRPr lang="en-US" sz="1000" dirty="0"/>
          </a:p>
        </p:txBody>
      </p:sp>
      <p:sp>
        <p:nvSpPr>
          <p:cNvPr id="5" name="status-255"/>
          <p:cNvSpPr/>
          <p:nvPr/>
        </p:nvSpPr>
        <p:spPr>
          <a:xfrm>
            <a:off x="2926080" y="11430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6" name="statustext-256"/>
          <p:cNvSpPr txBox="1"/>
          <p:nvPr/>
        </p:nvSpPr>
        <p:spPr>
          <a:xfrm>
            <a:off x="292608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Login blockiert (SMTP)</a:t>
            </a:r>
            <a:endParaRPr lang="en-US" sz="1000" dirty="0"/>
          </a:p>
        </p:txBody>
      </p:sp>
      <p:sp>
        <p:nvSpPr>
          <p:cNvPr id="7" name="status-257"/>
          <p:cNvSpPr/>
          <p:nvPr/>
        </p:nvSpPr>
        <p:spPr>
          <a:xfrm>
            <a:off x="4983480" y="11430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8" name="statustext-258"/>
          <p:cNvSpPr txBox="1"/>
          <p:nvPr/>
        </p:nvSpPr>
        <p:spPr>
          <a:xfrm>
            <a:off x="49834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Freunde/Teilen fehlen</a:t>
            </a:r>
            <a:endParaRPr lang="en-US" sz="1000" dirty="0"/>
          </a:p>
        </p:txBody>
      </p:sp>
      <p:sp>
        <p:nvSpPr>
          <p:cNvPr id="9" name="rahmen-259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screenshot-260" descr="Profil mit Testbeitrag; Follower „–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11" name="caption-261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Profil mit Testbeitrag; Follower „–“</a:t>
            </a:r>
            <a:endParaRPr lang="en-US" sz="1000" dirty="0"/>
          </a:p>
        </p:txBody>
      </p:sp>
      <p:sp>
        <p:nvSpPr>
          <p:cNvPr id="12" name="rahmen-262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screenshot-263" descr="Kommentare (nur eigene, lok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4" name="caption-264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Kommentare (nur eigene, lokal)</a:t>
            </a:r>
            <a:endParaRPr lang="en-US" sz="1000" dirty="0"/>
          </a:p>
        </p:txBody>
      </p:sp>
      <p:sp>
        <p:nvSpPr>
          <p:cNvPr id="15" name="rahmen-265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screenshot-266" descr="Mehr → Konto: „Demnächst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7" name="caption-267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Mehr → Konto: „Demnächst“</a:t>
            </a:r>
            <a:endParaRPr lang="en-US" sz="1000" dirty="0"/>
          </a:p>
        </p:txBody>
      </p:sp>
      <p:sp>
        <p:nvSpPr>
          <p:cNvPr id="18" name="liste-268"/>
          <p:cNvSpPr txBox="1"/>
          <p:nvPr/>
        </p:nvSpPr>
        <p:spPr>
          <a:xfrm>
            <a:off x="6812280" y="16916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Login per E-Mail-Code: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programmiert (Supabase, EU), Test 26.10.2026: Standard-Mails erreichen echte Postfächer nicht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Lösung: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eigener SMTP-Anbieter (Brevo) + Domain, Vorlage nur mit Code (Firmenfilter verbrauchen sonst Links)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Danach: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Freunde (Etappe 2), Teilen von Spots/Fängen und Cloud-Sicherung (Etappe 3)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Datenschutz: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Konto freiwillig; Fänge, Fotos und Orte bleiben lokal, bis Teilen bewusst gewählt wird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Daten bleiben auf dem Gerät – Sicherung und Wiederherstellung sind ausgereift</a:t>
            </a:r>
            <a:endParaRPr lang="en-US" sz="2400" dirty="0"/>
          </a:p>
        </p:txBody>
      </p:sp>
      <p:sp>
        <p:nvSpPr>
          <p:cNvPr id="3" name="status-269"/>
          <p:cNvSpPr/>
          <p:nvPr/>
        </p:nvSpPr>
        <p:spPr>
          <a:xfrm>
            <a:off x="502920" y="114300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270"/>
          <p:cNvSpPr txBox="1"/>
          <p:nvPr/>
        </p:nvSpPr>
        <p:spPr>
          <a:xfrm>
            <a:off x="50292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Sicherung, Import, Erinnerung</a:t>
            </a:r>
            <a:endParaRPr lang="en-US" sz="1000" dirty="0"/>
          </a:p>
        </p:txBody>
      </p:sp>
      <p:sp>
        <p:nvSpPr>
          <p:cNvPr id="5" name="status-271"/>
          <p:cNvSpPr/>
          <p:nvPr/>
        </p:nvSpPr>
        <p:spPr>
          <a:xfrm>
            <a:off x="3200400" y="11430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6" name="statustext-272"/>
          <p:cNvSpPr txBox="1"/>
          <p:nvPr/>
        </p:nvSpPr>
        <p:spPr>
          <a:xfrm>
            <a:off x="320040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Offline teilweise</a:t>
            </a:r>
            <a:endParaRPr lang="en-US" sz="1000" dirty="0"/>
          </a:p>
        </p:txBody>
      </p:sp>
      <p:sp>
        <p:nvSpPr>
          <p:cNvPr id="7" name="status-273"/>
          <p:cNvSpPr/>
          <p:nvPr/>
        </p:nvSpPr>
        <p:spPr>
          <a:xfrm>
            <a:off x="4983480" y="11430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8" name="statustext-274"/>
          <p:cNvSpPr txBox="1"/>
          <p:nvPr/>
        </p:nvSpPr>
        <p:spPr>
          <a:xfrm>
            <a:off x="498348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Keine Synchronisierung</a:t>
            </a:r>
            <a:endParaRPr lang="en-US" sz="1000" dirty="0"/>
          </a:p>
        </p:txBody>
      </p:sp>
      <p:sp>
        <p:nvSpPr>
          <p:cNvPr id="9" name="rahmen-275"/>
          <p:cNvSpPr/>
          <p:nvPr/>
        </p:nvSpPr>
        <p:spPr>
          <a:xfrm>
            <a:off x="53035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screenshot-276" descr="Speicherstand, „Dauerhaft speichern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816882" cy="3931920"/>
          </a:xfrm>
          <a:prstGeom prst="rect">
            <a:avLst/>
          </a:prstGeom>
        </p:spPr>
      </p:pic>
      <p:sp>
        <p:nvSpPr>
          <p:cNvPr id="11" name="caption-277"/>
          <p:cNvSpPr txBox="1"/>
          <p:nvPr/>
        </p:nvSpPr>
        <p:spPr>
          <a:xfrm>
            <a:off x="54864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Speicherstand, „Dauerhaft speichern“</a:t>
            </a:r>
            <a:endParaRPr lang="en-US" sz="1000" dirty="0"/>
          </a:p>
        </p:txBody>
      </p:sp>
      <p:sp>
        <p:nvSpPr>
          <p:cNvPr id="12" name="rahmen-278"/>
          <p:cNvSpPr/>
          <p:nvPr/>
        </p:nvSpPr>
        <p:spPr>
          <a:xfrm>
            <a:off x="254203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screenshot-279" descr="ZIP/JSON, CSV, Wiederherstell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1816882" cy="3931920"/>
          </a:xfrm>
          <a:prstGeom prst="rect">
            <a:avLst/>
          </a:prstGeom>
        </p:spPr>
      </p:pic>
      <p:sp>
        <p:nvSpPr>
          <p:cNvPr id="14" name="caption-280"/>
          <p:cNvSpPr txBox="1"/>
          <p:nvPr/>
        </p:nvSpPr>
        <p:spPr>
          <a:xfrm>
            <a:off x="256032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ZIP/JSON, CSV, Wiederherstellen</a:t>
            </a:r>
            <a:endParaRPr lang="en-US" sz="1000" dirty="0"/>
          </a:p>
        </p:txBody>
      </p:sp>
      <p:sp>
        <p:nvSpPr>
          <p:cNvPr id="15" name="rahmen-281"/>
          <p:cNvSpPr/>
          <p:nvPr/>
        </p:nvSpPr>
        <p:spPr>
          <a:xfrm>
            <a:off x="455371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screenshot-282" descr="Einstellungen: Standort, Route, Wet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1816882" cy="3931920"/>
          </a:xfrm>
          <a:prstGeom prst="rect">
            <a:avLst/>
          </a:prstGeom>
        </p:spPr>
      </p:pic>
      <p:sp>
        <p:nvSpPr>
          <p:cNvPr id="17" name="caption-283"/>
          <p:cNvSpPr txBox="1"/>
          <p:nvPr/>
        </p:nvSpPr>
        <p:spPr>
          <a:xfrm>
            <a:off x="457200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Einstellungen: Standort, Route, Wetter</a:t>
            </a:r>
            <a:endParaRPr lang="en-US" sz="1000" dirty="0"/>
          </a:p>
        </p:txBody>
      </p:sp>
      <p:sp>
        <p:nvSpPr>
          <p:cNvPr id="18" name="liste-284"/>
          <p:cNvSpPr txBox="1"/>
          <p:nvPr/>
        </p:nvSpPr>
        <p:spPr>
          <a:xfrm>
            <a:off x="6812280" y="16916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Offline: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 startet ohne Netz, Fangbuch, Fotos und Recht nutzbar; Karte und Wetter brauchen Netz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Sicherung: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ZIP mit Fotos oder JSON, Prüfsumme, Vorschau und Konfliktwahl beim Import, Import der Alt-App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Erinnerung: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nach Änderungen bzw. Tagen ohne Sicherung (Glas-Kapsel über der Leiste)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Risiko: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Browser (v. a. iOS ohne Installation) kann Daten löschen – Sync fehlt, Konflikte daher heute kein Thema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Eine App für Handy und PC: installierbar, barrierearm, hell und dunkel</a:t>
            </a:r>
            <a:endParaRPr lang="en-US" sz="2400" dirty="0"/>
          </a:p>
        </p:txBody>
      </p:sp>
      <p:sp>
        <p:nvSpPr>
          <p:cNvPr id="3" name="status-285"/>
          <p:cNvSpPr/>
          <p:nvPr/>
        </p:nvSpPr>
        <p:spPr>
          <a:xfrm>
            <a:off x="502920" y="114300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statustext-286"/>
          <p:cNvSpPr txBox="1"/>
          <p:nvPr/>
        </p:nvSpPr>
        <p:spPr>
          <a:xfrm>
            <a:off x="50292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PWA, Navigation, Darstellung</a:t>
            </a:r>
            <a:endParaRPr lang="en-US" sz="1000" dirty="0"/>
          </a:p>
        </p:txBody>
      </p:sp>
      <p:sp>
        <p:nvSpPr>
          <p:cNvPr id="5" name="status-287"/>
          <p:cNvSpPr/>
          <p:nvPr/>
        </p:nvSpPr>
        <p:spPr>
          <a:xfrm>
            <a:off x="3200400" y="114300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6" name="statustext-288"/>
          <p:cNvSpPr txBox="1"/>
          <p:nvPr/>
        </p:nvSpPr>
        <p:spPr>
          <a:xfrm>
            <a:off x="3200400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Geräte-Matrix offen</a:t>
            </a:r>
            <a:endParaRPr lang="en-US" sz="1000" dirty="0"/>
          </a:p>
        </p:txBody>
      </p:sp>
      <p:sp>
        <p:nvSpPr>
          <p:cNvPr id="7" name="desktoprahmen"/>
          <p:cNvSpPr/>
          <p:nvPr/>
        </p:nvSpPr>
        <p:spPr>
          <a:xfrm>
            <a:off x="530352" y="1627632"/>
            <a:ext cx="6803136" cy="4288536"/>
          </a:xfrm>
          <a:prstGeom prst="roundRect">
            <a:avLst>
              <a:gd name="adj" fmla="val 170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8" name="desktop" descr="Desktop-Ansicht der Ka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6675120" cy="4171950"/>
          </a:xfrm>
          <a:prstGeom prst="rect">
            <a:avLst/>
          </a:prstGeom>
        </p:spPr>
      </p:pic>
      <p:sp>
        <p:nvSpPr>
          <p:cNvPr id="9" name="desktopcap"/>
          <p:cNvSpPr txBox="1"/>
          <p:nvPr/>
        </p:nvSpPr>
        <p:spPr>
          <a:xfrm>
            <a:off x="594360" y="5943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Desktop: Seitenleiste statt unterer Leiste</a:t>
            </a:r>
            <a:endParaRPr lang="en-US" sz="1000" dirty="0"/>
          </a:p>
        </p:txBody>
      </p:sp>
      <p:sp>
        <p:nvSpPr>
          <p:cNvPr id="10" name="rahmen-289"/>
          <p:cNvSpPr/>
          <p:nvPr/>
        </p:nvSpPr>
        <p:spPr>
          <a:xfrm>
            <a:off x="7662672" y="1581912"/>
            <a:ext cx="1944898" cy="4059936"/>
          </a:xfrm>
          <a:prstGeom prst="roundRect">
            <a:avLst>
              <a:gd name="adj" fmla="val 56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creenshot-290" descr="Dunkelmod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645920"/>
            <a:ext cx="1816882" cy="3931920"/>
          </a:xfrm>
          <a:prstGeom prst="rect">
            <a:avLst/>
          </a:prstGeom>
        </p:spPr>
      </p:pic>
      <p:sp>
        <p:nvSpPr>
          <p:cNvPr id="12" name="caption-291"/>
          <p:cNvSpPr txBox="1"/>
          <p:nvPr/>
        </p:nvSpPr>
        <p:spPr>
          <a:xfrm>
            <a:off x="7680960" y="5687568"/>
            <a:ext cx="19083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Dunkelmodus</a:t>
            </a:r>
            <a:endParaRPr lang="en-US" sz="1000" dirty="0"/>
          </a:p>
        </p:txBody>
      </p:sp>
      <p:sp>
        <p:nvSpPr>
          <p:cNvPr id="13" name="liste-292"/>
          <p:cNvSpPr txBox="1"/>
          <p:nvPr/>
        </p:nvSpPr>
        <p:spPr>
          <a:xfrm>
            <a:off x="9738360" y="1691640"/>
            <a:ext cx="1965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Installierbar (Manifest, Icons, Service Worker), Update-Hinweis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Barrierefreiheit: axe ohne Befunde, Touch-Ziele ≥ 44 px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Datenschutzseite beschreibt alle Datenflüsse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Was noch fehlt: vier Arten von Lücken mit unterschiedlichen Lösungen</a:t>
            </a:r>
            <a:endParaRPr lang="en-US" sz="2400" dirty="0"/>
          </a:p>
        </p:txBody>
      </p:sp>
      <p:sp>
        <p:nvSpPr>
          <p:cNvPr id="3" name="spalte-293"/>
          <p:cNvSpPr/>
          <p:nvPr/>
        </p:nvSpPr>
        <p:spPr>
          <a:xfrm>
            <a:off x="502920" y="1280160"/>
            <a:ext cx="2651760" cy="42062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reis-294"/>
          <p:cNvSpPr/>
          <p:nvPr/>
        </p:nvSpPr>
        <p:spPr>
          <a:xfrm>
            <a:off x="731520" y="1481328"/>
            <a:ext cx="548640" cy="548640"/>
          </a:xfrm>
          <a:prstGeom prst="ellipse">
            <a:avLst/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pic>
        <p:nvPicPr>
          <p:cNvPr id="5" name="icon-29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09344"/>
            <a:ext cx="292608" cy="292608"/>
          </a:xfrm>
          <a:prstGeom prst="rect">
            <a:avLst/>
          </a:prstGeom>
        </p:spPr>
      </p:pic>
      <p:sp>
        <p:nvSpPr>
          <p:cNvPr id="6" name="kopf-296"/>
          <p:cNvSpPr txBox="1"/>
          <p:nvPr/>
        </p:nvSpPr>
        <p:spPr>
          <a:xfrm>
            <a:off x="73152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Teilweise implementiert</a:t>
            </a:r>
            <a:endParaRPr lang="en-US" sz="1600" dirty="0"/>
          </a:p>
        </p:txBody>
      </p:sp>
      <p:sp>
        <p:nvSpPr>
          <p:cNvPr id="7" name="liste-297"/>
          <p:cNvSpPr txBox="1"/>
          <p:nvPr/>
        </p:nvSpPr>
        <p:spPr>
          <a:xfrm>
            <a:off x="731520" y="2788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Gewässer-Angelkarten (21 Gewässer, Bremen offen)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Landesrecht: offene Verordnungen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Profil &amp; Beiträge nur lokal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Offline nur App und Fangbuch</a:t>
            </a:r>
            <a:endParaRPr lang="en-US" sz="1400" dirty="0"/>
          </a:p>
        </p:txBody>
      </p:sp>
      <p:sp>
        <p:nvSpPr>
          <p:cNvPr id="8" name="spalte-298"/>
          <p:cNvSpPr/>
          <p:nvPr/>
        </p:nvSpPr>
        <p:spPr>
          <a:xfrm>
            <a:off x="3337560" y="1280160"/>
            <a:ext cx="2651760" cy="42062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reis-299"/>
          <p:cNvSpPr/>
          <p:nvPr/>
        </p:nvSpPr>
        <p:spPr>
          <a:xfrm>
            <a:off x="3566160" y="1481328"/>
            <a:ext cx="548640" cy="548640"/>
          </a:xfrm>
          <a:prstGeom prst="ellipse">
            <a:avLst/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pic>
        <p:nvPicPr>
          <p:cNvPr id="10" name="icon-30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609344"/>
            <a:ext cx="292608" cy="292608"/>
          </a:xfrm>
          <a:prstGeom prst="rect">
            <a:avLst/>
          </a:prstGeom>
        </p:spPr>
      </p:pic>
      <p:sp>
        <p:nvSpPr>
          <p:cNvPr id="11" name="kopf-301"/>
          <p:cNvSpPr txBox="1"/>
          <p:nvPr/>
        </p:nvSpPr>
        <p:spPr>
          <a:xfrm>
            <a:off x="356616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Ungeprüft</a:t>
            </a:r>
            <a:endParaRPr lang="en-US" sz="1600" dirty="0"/>
          </a:p>
        </p:txBody>
      </p:sp>
      <p:sp>
        <p:nvSpPr>
          <p:cNvPr id="12" name="liste-302"/>
          <p:cNvSpPr txBox="1"/>
          <p:nvPr/>
        </p:nvSpPr>
        <p:spPr>
          <a:xfrm>
            <a:off x="3566160" y="2788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Pegelkarte live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Knoten (6), Montagen, Köderführung fachlich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Nutzungszählung (Code-Variable?)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Echte Geräte, Safari, Firefox</a:t>
            </a:r>
            <a:endParaRPr lang="en-US" sz="1400" dirty="0"/>
          </a:p>
        </p:txBody>
      </p:sp>
      <p:sp>
        <p:nvSpPr>
          <p:cNvPr id="13" name="spalte-303"/>
          <p:cNvSpPr/>
          <p:nvPr/>
        </p:nvSpPr>
        <p:spPr>
          <a:xfrm>
            <a:off x="6172200" y="1280160"/>
            <a:ext cx="2651760" cy="42062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reis-304"/>
          <p:cNvSpPr/>
          <p:nvPr/>
        </p:nvSpPr>
        <p:spPr>
          <a:xfrm>
            <a:off x="6400800" y="1481328"/>
            <a:ext cx="548640" cy="548640"/>
          </a:xfrm>
          <a:prstGeom prst="ellipse">
            <a:avLst/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pic>
        <p:nvPicPr>
          <p:cNvPr id="15" name="icon-30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609344"/>
            <a:ext cx="292608" cy="292608"/>
          </a:xfrm>
          <a:prstGeom prst="rect">
            <a:avLst/>
          </a:prstGeom>
        </p:spPr>
      </p:pic>
      <p:sp>
        <p:nvSpPr>
          <p:cNvPr id="16" name="kopf-306"/>
          <p:cNvSpPr txBox="1"/>
          <p:nvPr/>
        </p:nvSpPr>
        <p:spPr>
          <a:xfrm>
            <a:off x="640080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Noch nicht implementiert</a:t>
            </a:r>
            <a:endParaRPr lang="en-US" sz="1600" dirty="0"/>
          </a:p>
        </p:txBody>
      </p:sp>
      <p:sp>
        <p:nvSpPr>
          <p:cNvPr id="17" name="liste-307"/>
          <p:cNvSpPr txBox="1"/>
          <p:nvPr/>
        </p:nvSpPr>
        <p:spPr>
          <a:xfrm>
            <a:off x="6400800" y="2788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Freunde, Spots/Fänge teilen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Synchronisierung, Cloud-Sicherung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Fehler-Monitoring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Rote Liste, Fischarten je Gewässer, Fischbestimmung, App-Store-Apps</a:t>
            </a:r>
            <a:endParaRPr lang="en-US" sz="1400" dirty="0"/>
          </a:p>
        </p:txBody>
      </p:sp>
      <p:sp>
        <p:nvSpPr>
          <p:cNvPr id="18" name="spalte-308"/>
          <p:cNvSpPr/>
          <p:nvPr/>
        </p:nvSpPr>
        <p:spPr>
          <a:xfrm>
            <a:off x="9006840" y="1280160"/>
            <a:ext cx="2651760" cy="42062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kreis-309"/>
          <p:cNvSpPr/>
          <p:nvPr/>
        </p:nvSpPr>
        <p:spPr>
          <a:xfrm>
            <a:off x="9235440" y="1481328"/>
            <a:ext cx="548640" cy="548640"/>
          </a:xfrm>
          <a:prstGeom prst="ellipse">
            <a:avLst/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pic>
        <p:nvPicPr>
          <p:cNvPr id="20" name="icon-3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609344"/>
            <a:ext cx="292608" cy="292608"/>
          </a:xfrm>
          <a:prstGeom prst="rect">
            <a:avLst/>
          </a:prstGeom>
        </p:spPr>
      </p:pic>
      <p:sp>
        <p:nvSpPr>
          <p:cNvPr id="21" name="kopf-311"/>
          <p:cNvSpPr txBox="1"/>
          <p:nvPr/>
        </p:nvSpPr>
        <p:spPr>
          <a:xfrm>
            <a:off x="923544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Blockiert</a:t>
            </a:r>
            <a:endParaRPr lang="en-US" sz="1600" dirty="0"/>
          </a:p>
        </p:txBody>
      </p:sp>
      <p:sp>
        <p:nvSpPr>
          <p:cNvPr id="22" name="liste-312"/>
          <p:cNvSpPr txBox="1"/>
          <p:nvPr/>
        </p:nvSpPr>
        <p:spPr>
          <a:xfrm>
            <a:off x="9235440" y="2788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Login: eigener Mailversand + Domain fehlen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Tiefenkarten: keine Lizenz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Hintergrund-GPS: nur mit nativer App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Offline-Karten: eigenes Kachel-Hosting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Infrastruktur: Auslieferung und Datendienste laufen, Server-Seite fehlt noch</a:t>
            </a:r>
            <a:endParaRPr lang="en-US" sz="2400" dirty="0"/>
          </a:p>
        </p:txBody>
      </p:sp>
      <p:graphicFrame>
        <p:nvGraphicFramePr>
          <p:cNvPr id="20" name="infr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3291840"/>
                <a:gridCol w="2880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Komponente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Stand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Heute vorhanden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Empfehlung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Kosten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Webhosting / PWA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</a:rPr>
                        <a:t>🟢 vorhanden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GitHub Pages (App + 164,7 MB Gewässerdaten)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Beibehalten, solange nicht kommerziell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0 €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Kartenanbieter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</a:rPr>
                        <a:t>🟢 vorhanden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OpenFreeMap (ohne Garantie)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Ausweichstil, später eigene Kacheln auf R2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0 €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GPS, Suche, Routing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</a:rPr>
                        <a:t>🟢 vorhanden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Browser-GPS, eigener Suchindex; Routing nicht nötig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Beibehalten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0 €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Wetter, Warnungen, Pegel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9E5B"/>
                          </a:solidFill>
                        </a:rPr>
                        <a:t>🟢 vorhanden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Open-Meteo, Bright Sky, PEGELONLINE, OpenHygon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Bei Kommerz Open-Meteo-Abo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0 € (nicht-kommerziell)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Backend, Datenbank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Supabase-Projekt (EU, Free), nur Tabelle „profiles“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Supabase Pro ab öffentlicher Beta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0 $ / 25 $ pro Monat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Benutzerverwaltung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Supabase Auth programmiert, nicht freigeschaltet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Supabase Auth (100 000 MAU im Pro)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in Supabase enthalten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E-Mail-Versand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63B"/>
                          </a:solidFill>
                        </a:rPr>
                        <a:t>🔴 fehlt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Fehlt (Standard-Mail nur an Team-Adressen)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Brevo per SMTP, Vorlage nur mit Code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Free: 300 Mails/Tag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Domain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63B"/>
                          </a:solidFill>
                        </a:rPr>
                        <a:t>🔴 fehlt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Fehlt (fangpunkt.app vorgesehen)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EU-Registrar, SPF/DKIM/DMARC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20,10 €/Jahr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Datensicherung, Speicher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Nur lokal (ZIP/JSON)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Supabase Storage + tägliche Backups (Pro)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Pro: 100 GB inkl.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Monitoring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63B"/>
                          </a:solidFill>
                        </a:rPr>
                        <a:t>🔴 fehlt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Fehlt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Sentry Developer (frei), später Team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0 $ / 26 $ pro Monat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Datenschutz, Sicherheit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3A500"/>
                          </a:solidFill>
                        </a:rPr>
                        <a:t>🟡 teilweise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RLS je Tabelle, nur öffentlicher Schlüssel, Datenschutzseite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Datenschutzerklärung, AV-Verträge, Impressum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einmalig 0–500 € [Schätzung]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30"/>
                          </a:solidFill>
                        </a:rPr>
                        <a:t>App-Stores (optional)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463B"/>
                          </a:solidFill>
                        </a:rPr>
                        <a:t>🔴 fehlt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Nicht vorhanden – PWA genügt bisher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Nur bei Bedarf (Hintergrund-GPS)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Apple 99 $/Jahr, Google 25 $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infrahinweis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Ein Anbieter (Supabase) deckt API, Datenbank, Anmeldung und Speicher ab – kein eigener Dienst je Komponente nötig. Details und Alternativen: Excel, Blatt „Infrastruktur“.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Empfohlene Architektur: lokal zuerst, Supabase nur für Konto und bewusstes Teilen</a:t>
            </a:r>
            <a:endParaRPr lang="en-US" sz="2400" dirty="0"/>
          </a:p>
        </p:txBody>
      </p:sp>
      <p:sp>
        <p:nvSpPr>
          <p:cNvPr id="3" name="box-313"/>
          <p:cNvSpPr/>
          <p:nvPr/>
        </p:nvSpPr>
        <p:spPr>
          <a:xfrm>
            <a:off x="502920" y="2011680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6F0EE"/>
          </a:solidFill>
          <a:ln w="19050">
            <a:solidFill>
              <a:srgbClr val="123C34"/>
            </a:solidFill>
            <a:prstDash val="solid"/>
          </a:ln>
        </p:spPr>
      </p:sp>
      <p:sp>
        <p:nvSpPr>
          <p:cNvPr id="4" name="boxtitel-314"/>
          <p:cNvSpPr txBox="1"/>
          <p:nvPr/>
        </p:nvSpPr>
        <p:spPr>
          <a:xfrm>
            <a:off x="64008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Gerät (PWA im Browser)</a:t>
            </a:r>
            <a:endParaRPr lang="en-US" sz="1300" dirty="0"/>
          </a:p>
        </p:txBody>
      </p:sp>
      <p:sp>
        <p:nvSpPr>
          <p:cNvPr id="5" name="boxtext-315"/>
          <p:cNvSpPr txBox="1"/>
          <p:nvPr/>
        </p:nvSpPr>
        <p:spPr>
          <a:xfrm>
            <a:off x="640080" y="2441448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React-App, offline startfähig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IndexedDB: Fänge, Fotos, Spots, Sessions, Routen, Profil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Sicherung als ZIP/JSON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GPS nur im Vordergrund</a:t>
            </a:r>
            <a:endParaRPr lang="en-US" sz="1100" dirty="0"/>
          </a:p>
        </p:txBody>
      </p:sp>
      <p:sp>
        <p:nvSpPr>
          <p:cNvPr id="6" name="box-316"/>
          <p:cNvSpPr/>
          <p:nvPr/>
        </p:nvSpPr>
        <p:spPr>
          <a:xfrm>
            <a:off x="4343400" y="12344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E4F0F5"/>
          </a:solidFill>
          <a:ln w="19050">
            <a:solidFill>
              <a:srgbClr val="1F7A9C"/>
            </a:solidFill>
            <a:prstDash val="solid"/>
          </a:ln>
        </p:spPr>
      </p:sp>
      <p:sp>
        <p:nvSpPr>
          <p:cNvPr id="7" name="boxtitel-317"/>
          <p:cNvSpPr txBox="1"/>
          <p:nvPr/>
        </p:nvSpPr>
        <p:spPr>
          <a:xfrm>
            <a:off x="448056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GitHub Pages (vorhanden)</a:t>
            </a:r>
            <a:endParaRPr lang="en-US" sz="1300" dirty="0"/>
          </a:p>
        </p:txBody>
      </p:sp>
      <p:sp>
        <p:nvSpPr>
          <p:cNvPr id="8" name="boxtext-318"/>
          <p:cNvSpPr txBox="1"/>
          <p:nvPr/>
        </p:nvSpPr>
        <p:spPr>
          <a:xfrm>
            <a:off x="4480560" y="16642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 + Gewässerdaten (PMTiles, Suche, Landesgrenzen), gebaut per GitHub Actions</a:t>
            </a:r>
            <a:endParaRPr lang="en-US" sz="1100" dirty="0"/>
          </a:p>
        </p:txBody>
      </p:sp>
      <p:sp>
        <p:nvSpPr>
          <p:cNvPr id="9" name="box-319"/>
          <p:cNvSpPr/>
          <p:nvPr/>
        </p:nvSpPr>
        <p:spPr>
          <a:xfrm>
            <a:off x="4343400" y="269748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E4F0F5"/>
          </a:solidFill>
          <a:ln w="19050">
            <a:solidFill>
              <a:srgbClr val="1F7A9C"/>
            </a:solidFill>
            <a:prstDash val="solid"/>
          </a:ln>
        </p:spPr>
      </p:sp>
      <p:sp>
        <p:nvSpPr>
          <p:cNvPr id="10" name="boxtitel-320"/>
          <p:cNvSpPr txBox="1"/>
          <p:nvPr/>
        </p:nvSpPr>
        <p:spPr>
          <a:xfrm>
            <a:off x="44805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Offene Datendienste (vorhanden)</a:t>
            </a:r>
            <a:endParaRPr lang="en-US" sz="1300" dirty="0"/>
          </a:p>
        </p:txBody>
      </p:sp>
      <p:sp>
        <p:nvSpPr>
          <p:cNvPr id="11" name="boxtext-321"/>
          <p:cNvSpPr txBox="1"/>
          <p:nvPr/>
        </p:nvSpPr>
        <p:spPr>
          <a:xfrm>
            <a:off x="4480560" y="31272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OpenFreeMap (Basiskarte)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Open-Meteo (Wetter), Bright Sky (DWD)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PEGELONLINE, OpenHygon NRW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GoatCounter (anonyme Zählung)</a:t>
            </a:r>
            <a:endParaRPr lang="en-US" sz="1100" dirty="0"/>
          </a:p>
        </p:txBody>
      </p:sp>
      <p:sp>
        <p:nvSpPr>
          <p:cNvPr id="12" name="box-322"/>
          <p:cNvSpPr/>
          <p:nvPr/>
        </p:nvSpPr>
        <p:spPr>
          <a:xfrm>
            <a:off x="8275320" y="1234440"/>
            <a:ext cx="3383280" cy="3429000"/>
          </a:xfrm>
          <a:prstGeom prst="roundRect">
            <a:avLst>
              <a:gd name="adj" fmla="val 2703"/>
            </a:avLst>
          </a:prstGeom>
          <a:solidFill>
            <a:srgbClr val="FDF0E6"/>
          </a:solidFill>
          <a:ln w="19050">
            <a:solidFill>
              <a:srgbClr val="F2994A"/>
            </a:solidFill>
            <a:prstDash val="dash"/>
          </a:ln>
        </p:spPr>
      </p:sp>
      <p:sp>
        <p:nvSpPr>
          <p:cNvPr id="13" name="boxtitel-323"/>
          <p:cNvSpPr txBox="1"/>
          <p:nvPr/>
        </p:nvSpPr>
        <p:spPr>
          <a:xfrm>
            <a:off x="84124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Supabase EU (neu im Betrieb)</a:t>
            </a:r>
            <a:endParaRPr lang="en-US" sz="1300" dirty="0"/>
          </a:p>
        </p:txBody>
      </p:sp>
      <p:sp>
        <p:nvSpPr>
          <p:cNvPr id="14" name="boxtext-324"/>
          <p:cNvSpPr txBox="1"/>
          <p:nvPr/>
        </p:nvSpPr>
        <p:spPr>
          <a:xfrm>
            <a:off x="8412480" y="1664208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Auth: Anmeldung per E-Mail-Code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Postgres mit Row Level Security: Profile, Freunde, Freigaben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Storage: bewusst geteilte Fotos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Tägliche Backups (Pro)</a:t>
            </a:r>
            <a:endParaRPr lang="en-US" sz="1100" dirty="0"/>
          </a:p>
        </p:txBody>
      </p:sp>
      <p:sp>
        <p:nvSpPr>
          <p:cNvPr id="15" name="box-325"/>
          <p:cNvSpPr/>
          <p:nvPr/>
        </p:nvSpPr>
        <p:spPr>
          <a:xfrm>
            <a:off x="8275320" y="502920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DF0E6"/>
          </a:solidFill>
          <a:ln w="19050">
            <a:solidFill>
              <a:srgbClr val="F2994A"/>
            </a:solidFill>
            <a:prstDash val="dash"/>
          </a:ln>
        </p:spPr>
      </p:sp>
      <p:sp>
        <p:nvSpPr>
          <p:cNvPr id="16" name="boxtitel-326"/>
          <p:cNvSpPr txBox="1"/>
          <p:nvPr/>
        </p:nvSpPr>
        <p:spPr>
          <a:xfrm>
            <a:off x="841248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Brevo SMTP + fangpunkt.app (neu)</a:t>
            </a:r>
            <a:endParaRPr lang="en-US" sz="1300" dirty="0"/>
          </a:p>
        </p:txBody>
      </p:sp>
      <p:sp>
        <p:nvSpPr>
          <p:cNvPr id="17" name="boxtext-327"/>
          <p:cNvSpPr txBox="1"/>
          <p:nvPr/>
        </p:nvSpPr>
        <p:spPr>
          <a:xfrm>
            <a:off x="8412480" y="5458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Mailversand mit eigener Domain</a:t>
            </a:r>
            <a:endParaRPr lang="en-US" sz="1100" dirty="0"/>
          </a:p>
        </p:txBody>
      </p:sp>
      <p:sp>
        <p:nvSpPr>
          <p:cNvPr id="18" name="box-328"/>
          <p:cNvSpPr/>
          <p:nvPr/>
        </p:nvSpPr>
        <p:spPr>
          <a:xfrm>
            <a:off x="4343400" y="502920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DF0E6"/>
          </a:solidFill>
          <a:ln w="19050">
            <a:solidFill>
              <a:srgbClr val="F2994A"/>
            </a:solidFill>
            <a:prstDash val="dash"/>
          </a:ln>
        </p:spPr>
      </p:sp>
      <p:sp>
        <p:nvSpPr>
          <p:cNvPr id="19" name="boxtitel-329"/>
          <p:cNvSpPr txBox="1"/>
          <p:nvPr/>
        </p:nvSpPr>
        <p:spPr>
          <a:xfrm>
            <a:off x="448056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Sentry (neu, optional)</a:t>
            </a:r>
            <a:endParaRPr lang="en-US" sz="1300" dirty="0"/>
          </a:p>
        </p:txBody>
      </p:sp>
      <p:sp>
        <p:nvSpPr>
          <p:cNvPr id="20" name="boxtext-330"/>
          <p:cNvSpPr txBox="1"/>
          <p:nvPr/>
        </p:nvSpPr>
        <p:spPr>
          <a:xfrm>
            <a:off x="4480560" y="54589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Fehlerberichte ohne personenbezogene Daten</a:t>
            </a:r>
            <a:endParaRPr lang="en-US" sz="1100" dirty="0"/>
          </a:p>
        </p:txBody>
      </p:sp>
      <p:sp>
        <p:nvSpPr>
          <p:cNvPr id="21" name="pfeil-331"/>
          <p:cNvSpPr/>
          <p:nvPr/>
        </p:nvSpPr>
        <p:spPr>
          <a:xfrm flipV="1">
            <a:off x="3794760" y="1874520"/>
            <a:ext cx="548640" cy="502920"/>
          </a:xfrm>
          <a:prstGeom prst="line">
            <a:avLst/>
          </a:prstGeom>
          <a:noFill/>
          <a:ln w="15875">
            <a:solidFill>
              <a:srgbClr val="6B7C80"/>
            </a:solidFill>
            <a:prstDash val="solid"/>
            <a:tailEnd type="triangle"/>
          </a:ln>
        </p:spPr>
      </p:sp>
      <p:sp>
        <p:nvSpPr>
          <p:cNvPr id="22" name="pfeil-332"/>
          <p:cNvSpPr/>
          <p:nvPr/>
        </p:nvSpPr>
        <p:spPr>
          <a:xfrm>
            <a:off x="3794760" y="3291840"/>
            <a:ext cx="548640" cy="137160"/>
          </a:xfrm>
          <a:prstGeom prst="line">
            <a:avLst/>
          </a:prstGeom>
          <a:noFill/>
          <a:ln w="15875">
            <a:solidFill>
              <a:srgbClr val="6B7C80"/>
            </a:solidFill>
            <a:prstDash val="solid"/>
            <a:tailEnd type="triangle"/>
          </a:ln>
        </p:spPr>
      </p:sp>
      <p:sp>
        <p:nvSpPr>
          <p:cNvPr id="23" name="pfeil-333"/>
          <p:cNvSpPr/>
          <p:nvPr/>
        </p:nvSpPr>
        <p:spPr>
          <a:xfrm>
            <a:off x="3794760" y="4526280"/>
            <a:ext cx="548640" cy="868680"/>
          </a:xfrm>
          <a:prstGeom prst="line">
            <a:avLst/>
          </a:prstGeom>
          <a:noFill/>
          <a:ln w="15875">
            <a:solidFill>
              <a:srgbClr val="6B7C80"/>
            </a:solidFill>
            <a:prstDash val="dash"/>
            <a:tailEnd type="triangle"/>
          </a:ln>
        </p:spPr>
      </p:sp>
      <p:sp>
        <p:nvSpPr>
          <p:cNvPr id="24" name="pfeil-334"/>
          <p:cNvSpPr/>
          <p:nvPr/>
        </p:nvSpPr>
        <p:spPr>
          <a:xfrm>
            <a:off x="3794760" y="4416552"/>
            <a:ext cx="4480560" cy="914"/>
          </a:xfrm>
          <a:prstGeom prst="line">
            <a:avLst/>
          </a:prstGeom>
          <a:noFill/>
          <a:ln w="15875">
            <a:solidFill>
              <a:srgbClr val="6B7C80"/>
            </a:solidFill>
            <a:prstDash val="dash"/>
            <a:tailEnd type="triangle"/>
          </a:ln>
        </p:spPr>
      </p:sp>
      <p:sp>
        <p:nvSpPr>
          <p:cNvPr id="25" name="pfeil-335"/>
          <p:cNvSpPr/>
          <p:nvPr/>
        </p:nvSpPr>
        <p:spPr>
          <a:xfrm flipV="1">
            <a:off x="9966960" y="4663440"/>
            <a:ext cx="914" cy="365760"/>
          </a:xfrm>
          <a:prstGeom prst="line">
            <a:avLst/>
          </a:prstGeom>
          <a:noFill/>
          <a:ln w="15875">
            <a:solidFill>
              <a:srgbClr val="6B7C80"/>
            </a:solidFill>
            <a:prstDash val="dash"/>
            <a:tailEnd type="triangle"/>
          </a:ln>
        </p:spPr>
      </p:sp>
      <p:sp>
        <p:nvSpPr>
          <p:cNvPr id="26" name="pfeiltext"/>
          <p:cNvSpPr txBox="1"/>
          <p:nvPr/>
        </p:nvSpPr>
        <p:spPr>
          <a:xfrm>
            <a:off x="443484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Konto, Freunde, Teilen – nur mit Konto und nur, was bewusst geteilt wird</a:t>
            </a:r>
            <a:endParaRPr lang="en-US" sz="1050" dirty="0"/>
          </a:p>
        </p:txBody>
      </p:sp>
      <p:sp>
        <p:nvSpPr>
          <p:cNvPr id="27" name="archlegende"/>
          <p:cNvSpPr txBox="1"/>
          <p:nvPr/>
        </p:nvSpPr>
        <p:spPr>
          <a:xfrm>
            <a:off x="502920" y="1234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9C"/>
                </a:solidFill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vorhanden    </a:t>
            </a:r>
            <a:pPr indent="0" marL="0">
              <a:buNone/>
            </a:pPr>
            <a:r>
              <a:rPr lang="en-US" sz="1100" dirty="0">
                <a:solidFill>
                  <a:srgbClr val="F2994A"/>
                </a:solidFill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neu benötigt (gestrichelt) 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Gestrichelte Linien: erst nach Freischaltung des Kontos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Kosten je Dienst: fast alles startet kostenlos – Supabase Pro ist der erste feste Posten</a:t>
            </a:r>
            <a:endParaRPr lang="en-US" sz="2400" dirty="0"/>
          </a:p>
        </p:txBody>
      </p:sp>
      <p:graphicFrame>
        <p:nvGraphicFramePr>
          <p:cNvPr id="22" name="kosten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600200"/>
                <a:gridCol w="425196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Anbieter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Leistung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Preis (netto)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Kostenlose Grenze / Nutzungsabhängig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GitHub Pages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Hosting App + Daten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0 €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1 GB Seite, 100 GB/Monat (weich); nicht für kommerzielle SaaS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Supabase Free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DB, Auth, Storage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0 $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500 MB DB, 1 GB Dateien, 5 GB Transfer, 50 000 MAU; pausiert nach 1 Woche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Supabase Pro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wie oben + Backups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25 $/Monat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8 GB DB, 100 GB Dateien, 250 GB Transfer, 100 000 MAU, 7 Tage Backups; danach 0,09 $/GB Transfer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Brevo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E-Mail (SMTP)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Free 0 €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300 Mails/Tag; Starter ca. 9 $/Monat (5 000 Mails)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463B"/>
                          </a:solidFill>
                        </a:rPr>
                        <a:t>Free: Preis; Starter: Drittquelle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Resend (Alternative)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E-Mail (API/SMTP)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0 $ / 20 $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Free 3 000/Monat (100/Tag); Pro 50 000 Mails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INWX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Domain fangpunkt.app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20,10 €/Jahr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Verlängerungspreis vor Kauf prüfen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Sentry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Fehler-Monitoring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0 $ / 26 $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Developer: 5 000 Fehler, 1 Nutzer; Team 26 $ (jährlich) bzw. 29 $ (monatlich)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Open-Meteo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Wetter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0 €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Nur nicht-kommerziell; 10 000 Aufrufe/Tag je IP; Abo ca. 29 $/Monat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463B"/>
                          </a:solidFill>
                        </a:rPr>
                        <a:t>Free: Preis; Abo: Drittquelle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Cloudflare R2 (Option)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Kacheln/Offline-Karten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0 $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10 GB frei, danach 0,015 $/GB-Monat, Transfer frei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Apple / Google (Option)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App-Stores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30"/>
                          </a:solidFill>
                        </a:rPr>
                        <a:t>99 $/Jahr · 25 $ einmalig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0"/>
                          </a:solidFill>
                        </a:rPr>
                        <a:t>Nur bei nativer App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0"/>
                          </a:solidFill>
                        </a:rPr>
                        <a:t>Preis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kostenhinweis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Alle Preise abgerufen am 30.10.2026 auf den offiziellen Preisseiten (Quellen im Anhang). USD-Preise netto, ohne Umsatzsteuer; Umrechnung mit EZB-Kurs 29.10.2026 (1 € = 1,1130 $). „Drittquelle“ = offizieller Preis nicht maschinenlesbar, Wert ist Schätzung.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Drei Szenarien: von 2 € bis rund 80 € im Monat – ohne Arbeitszeit</a:t>
            </a:r>
            <a:endParaRPr lang="en-US" sz="2400" dirty="0"/>
          </a:p>
        </p:txBody>
      </p:sp>
      <p:graphicFrame>
        <p:nvGraphicFramePr>
          <p:cNvPr id="23" name="szenario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914400"/>
                <a:gridCol w="91440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Fix / Monat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Variabel / Monat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Gesamt / Monat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Gesamt / Jahr (netto)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Jahr brutto (Schätzung)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Szenario 1 – Minimaler Start (50 Nutzer)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1,68 €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0,00 €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1,68 €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20,10 €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23,92 €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Szenario 2 – Öffentliche Beta (500 Nutzer)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24,14 €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0,00 €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24,14 €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289,64 €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344,67 €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Szenario 3 – Wachstum (5 000 Nutzer)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47,50 €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32,79 €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80,29 €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0"/>
                          </a:solidFill>
                        </a:rPr>
                        <a:t>963,50 €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0"/>
                          </a:solidFill>
                        </a:rPr>
                        <a:t>1.146,56 €</a:t>
                      </a:r>
                      <a:endParaRPr lang="en-US" sz="1100" dirty="0"/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szenariochart" descr=""/>
          <p:cNvGraphicFramePr/>
          <p:nvPr/>
        </p:nvGraphicFramePr>
        <p:xfrm>
          <a:off x="7406640" y="1143000"/>
          <a:ext cx="4297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iste-336"/>
          <p:cNvSpPr txBox="1"/>
          <p:nvPr/>
        </p:nvSpPr>
        <p:spPr>
          <a:xfrm>
            <a:off x="502920" y="370332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S1: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nur Domain (Mail-Absender); Supabase Free, Brevo Free, Sentry Developer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S2: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 Supabase Pro (Backups, kein Pausieren) = größter Sprung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S3: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 Transfer über 250 GB, Compute Small, Brevo Starter, Sentry Team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Einmalig: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Rechtstexte 0–500 € [Schätzung]; App-Stores optional (99 $/Jahr + 25 $)</a:t>
            </a:r>
            <a:endParaRPr lang="en-US" sz="1300" dirty="0"/>
          </a:p>
        </p:txBody>
      </p:sp>
      <p:sp>
        <p:nvSpPr>
          <p:cNvPr id="6" name="szenariohinweis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Rechnung mit Formeln: Fangpunkt_Funktionsuebersicht.xlsx, Blatt „Kosten“ (Mengen und Kurs dort änderbar).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Annahmen und Risiken je Szenario: Transfer und Kommerzialisierung treiben die Kosten</a:t>
            </a:r>
            <a:endParaRPr lang="en-US" sz="2400" dirty="0"/>
          </a:p>
        </p:txBody>
      </p:sp>
      <p:sp>
        <p:nvSpPr>
          <p:cNvPr id="3" name="szenario-337"/>
          <p:cNvSpPr/>
          <p:nvPr/>
        </p:nvSpPr>
        <p:spPr>
          <a:xfrm>
            <a:off x="502920" y="1280160"/>
            <a:ext cx="3566160" cy="47548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itel-338"/>
          <p:cNvSpPr txBox="1"/>
          <p:nvPr/>
        </p:nvSpPr>
        <p:spPr>
          <a:xfrm>
            <a:off x="73152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Szenario 1 – Minimaler Start</a:t>
            </a:r>
            <a:endParaRPr lang="en-US" sz="1700" dirty="0"/>
          </a:p>
        </p:txBody>
      </p:sp>
      <p:sp>
        <p:nvSpPr>
          <p:cNvPr id="5" name="snutzer-339"/>
          <p:cNvSpPr txBox="1"/>
          <p:nvPr/>
        </p:nvSpPr>
        <p:spPr>
          <a:xfrm>
            <a:off x="7315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50 registrierte Nutzer, geschlossene Testgruppe</a:t>
            </a:r>
            <a:endParaRPr lang="en-US" sz="1300" dirty="0"/>
          </a:p>
        </p:txBody>
      </p:sp>
      <p:sp>
        <p:nvSpPr>
          <p:cNvPr id="6" name="sannahmen-340"/>
          <p:cNvSpPr txBox="1"/>
          <p:nvPr/>
        </p:nvSpPr>
        <p:spPr>
          <a:xfrm>
            <a:off x="731520" y="2606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Annahmen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≈ 30 aktive/Monat, &lt; 100 Mails/Monat, &lt; 1 GB Fotos [A]</a:t>
            </a:r>
            <a:endParaRPr lang="en-US" sz="1300" dirty="0"/>
          </a:p>
        </p:txBody>
      </p:sp>
      <p:sp>
        <p:nvSpPr>
          <p:cNvPr id="7" name="srisiken-341"/>
          <p:cNvSpPr txBox="1"/>
          <p:nvPr/>
        </p:nvSpPr>
        <p:spPr>
          <a:xfrm>
            <a:off x="73152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463B"/>
                </a:solidFill>
              </a:rPr>
              <a:t>Risiken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Supabase Free pausiert nach 1 Woche ohne Aktivität; keine automatischen Backups; Brevo-Logo in Mails</a:t>
            </a:r>
            <a:endParaRPr lang="en-US" sz="1300" dirty="0"/>
          </a:p>
        </p:txBody>
      </p:sp>
      <p:sp>
        <p:nvSpPr>
          <p:cNvPr id="8" name="szenario-342"/>
          <p:cNvSpPr/>
          <p:nvPr/>
        </p:nvSpPr>
        <p:spPr>
          <a:xfrm>
            <a:off x="4297680" y="1280160"/>
            <a:ext cx="3566160" cy="47548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itel-343"/>
          <p:cNvSpPr txBox="1"/>
          <p:nvPr/>
        </p:nvSpPr>
        <p:spPr>
          <a:xfrm>
            <a:off x="452628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Szenario 2 – Öffentliche Beta</a:t>
            </a:r>
            <a:endParaRPr lang="en-US" sz="1700" dirty="0"/>
          </a:p>
        </p:txBody>
      </p:sp>
      <p:sp>
        <p:nvSpPr>
          <p:cNvPr id="10" name="snutzer-344"/>
          <p:cNvSpPr txBox="1"/>
          <p:nvPr/>
        </p:nvSpPr>
        <p:spPr>
          <a:xfrm>
            <a:off x="452628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500 registrierte Nutzer</a:t>
            </a:r>
            <a:endParaRPr lang="en-US" sz="1300" dirty="0"/>
          </a:p>
        </p:txBody>
      </p:sp>
      <p:sp>
        <p:nvSpPr>
          <p:cNvPr id="11" name="sannahmen-345"/>
          <p:cNvSpPr txBox="1"/>
          <p:nvPr/>
        </p:nvSpPr>
        <p:spPr>
          <a:xfrm>
            <a:off x="4526280" y="2606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Annahmen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≈ 300 aktive/Monat, ≈ 1 500 Mails/Monat (&lt; 300/Tag), ≈ 3 GB Fotos, &lt; 50 GB Transfer [A]</a:t>
            </a:r>
            <a:endParaRPr lang="en-US" sz="1300" dirty="0"/>
          </a:p>
        </p:txBody>
      </p:sp>
      <p:sp>
        <p:nvSpPr>
          <p:cNvPr id="12" name="srisiken-346"/>
          <p:cNvSpPr txBox="1"/>
          <p:nvPr/>
        </p:nvSpPr>
        <p:spPr>
          <a:xfrm>
            <a:off x="452628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463B"/>
                </a:solidFill>
              </a:rPr>
              <a:t>Risiken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Datenschutzerklärung/Impressum nötig; GitHub Pages nur nicht-kommerziell; Mail-Spitzen &gt; 300/Tag</a:t>
            </a:r>
            <a:endParaRPr lang="en-US" sz="1300" dirty="0"/>
          </a:p>
        </p:txBody>
      </p:sp>
      <p:sp>
        <p:nvSpPr>
          <p:cNvPr id="13" name="szenario-347"/>
          <p:cNvSpPr/>
          <p:nvPr/>
        </p:nvSpPr>
        <p:spPr>
          <a:xfrm>
            <a:off x="8092440" y="1280160"/>
            <a:ext cx="3566160" cy="475488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itel-348"/>
          <p:cNvSpPr txBox="1"/>
          <p:nvPr/>
        </p:nvSpPr>
        <p:spPr>
          <a:xfrm>
            <a:off x="832104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Szenario 3 – Wachstum</a:t>
            </a:r>
            <a:endParaRPr lang="en-US" sz="1700" dirty="0"/>
          </a:p>
        </p:txBody>
      </p:sp>
      <p:sp>
        <p:nvSpPr>
          <p:cNvPr id="15" name="snutzer-349"/>
          <p:cNvSpPr txBox="1"/>
          <p:nvPr/>
        </p:nvSpPr>
        <p:spPr>
          <a:xfrm>
            <a:off x="83210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5 000 registrierte Nutzer</a:t>
            </a:r>
            <a:endParaRPr lang="en-US" sz="1300" dirty="0"/>
          </a:p>
        </p:txBody>
      </p:sp>
      <p:sp>
        <p:nvSpPr>
          <p:cNvPr id="16" name="sannahmen-350"/>
          <p:cNvSpPr txBox="1"/>
          <p:nvPr/>
        </p:nvSpPr>
        <p:spPr>
          <a:xfrm>
            <a:off x="8321040" y="2606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Annahmen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≈ 2 000 aktive/Monat, ≈ 10 000 Mails/Monat, ≈ 30 GB Fotos, ≈ 500 GB Transfer [A]</a:t>
            </a:r>
            <a:endParaRPr lang="en-US" sz="1300" dirty="0"/>
          </a:p>
        </p:txBody>
      </p:sp>
      <p:sp>
        <p:nvSpPr>
          <p:cNvPr id="17" name="srisiken-351"/>
          <p:cNvSpPr txBox="1"/>
          <p:nvPr/>
        </p:nvSpPr>
        <p:spPr>
          <a:xfrm>
            <a:off x="8321040" y="41148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463B"/>
                </a:solidFill>
              </a:rPr>
              <a:t>Risiken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Transfer ist der größte variable Posten; bei Kommerzialisierung Wetter-Abo und anderes Hosting nötig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Risiken, Datenschutz und Sicherheit: Mit dem Konto werden wir DSGVO-Verantwortliche</a:t>
            </a:r>
            <a:endParaRPr lang="en-US" sz="2400" dirty="0"/>
          </a:p>
        </p:txBody>
      </p:sp>
      <p:sp>
        <p:nvSpPr>
          <p:cNvPr id="3" name="kreis-352"/>
          <p:cNvSpPr/>
          <p:nvPr/>
        </p:nvSpPr>
        <p:spPr>
          <a:xfrm>
            <a:off x="50292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-3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472184"/>
            <a:ext cx="301752" cy="301752"/>
          </a:xfrm>
          <a:prstGeom prst="rect">
            <a:avLst/>
          </a:prstGeom>
        </p:spPr>
      </p:pic>
      <p:sp>
        <p:nvSpPr>
          <p:cNvPr id="5" name="rkopf-354"/>
          <p:cNvSpPr txBox="1"/>
          <p:nvPr/>
        </p:nvSpPr>
        <p:spPr>
          <a:xfrm>
            <a:off x="1280160" y="12801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DSGVO</a:t>
            </a:r>
            <a:endParaRPr lang="en-US" sz="1600" dirty="0"/>
          </a:p>
        </p:txBody>
      </p:sp>
      <p:sp>
        <p:nvSpPr>
          <p:cNvPr id="6" name="rtext-355"/>
          <p:cNvSpPr txBox="1"/>
          <p:nvPr/>
        </p:nvSpPr>
        <p:spPr>
          <a:xfrm>
            <a:off x="1280160" y="16459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Mit Konto verlassen erstmals Nutzerdaten das Gerät: Datenschutzerklärung, AV-Verträge (Supabase, Brevo), Auskunft und Löschen (Konto löschen ist programmiert).</a:t>
            </a:r>
            <a:endParaRPr lang="en-US" sz="1300" dirty="0"/>
          </a:p>
        </p:txBody>
      </p:sp>
      <p:sp>
        <p:nvSpPr>
          <p:cNvPr id="7" name="kreis-356"/>
          <p:cNvSpPr/>
          <p:nvPr/>
        </p:nvSpPr>
        <p:spPr>
          <a:xfrm>
            <a:off x="612648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3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72184"/>
            <a:ext cx="301752" cy="301752"/>
          </a:xfrm>
          <a:prstGeom prst="rect">
            <a:avLst/>
          </a:prstGeom>
        </p:spPr>
      </p:pic>
      <p:sp>
        <p:nvSpPr>
          <p:cNvPr id="9" name="rkopf-358"/>
          <p:cNvSpPr txBox="1"/>
          <p:nvPr/>
        </p:nvSpPr>
        <p:spPr>
          <a:xfrm>
            <a:off x="6903720" y="12801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Schlüssel &amp; Zugriff</a:t>
            </a:r>
            <a:endParaRPr lang="en-US" sz="1600" dirty="0"/>
          </a:p>
        </p:txBody>
      </p:sp>
      <p:sp>
        <p:nvSpPr>
          <p:cNvPr id="10" name="rtext-359"/>
          <p:cNvSpPr txBox="1"/>
          <p:nvPr/>
        </p:nvSpPr>
        <p:spPr>
          <a:xfrm>
            <a:off x="6903720" y="16459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Nur öffentlicher Supabase-Schlüssel in der App, Zugriff über Row Level Security je Tabelle; service_role nie ins Repo.</a:t>
            </a:r>
            <a:endParaRPr lang="en-US" sz="1300" dirty="0"/>
          </a:p>
        </p:txBody>
      </p:sp>
      <p:sp>
        <p:nvSpPr>
          <p:cNvPr id="11" name="kreis-360"/>
          <p:cNvSpPr/>
          <p:nvPr/>
        </p:nvSpPr>
        <p:spPr>
          <a:xfrm>
            <a:off x="502920" y="2926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36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072384"/>
            <a:ext cx="301752" cy="301752"/>
          </a:xfrm>
          <a:prstGeom prst="rect">
            <a:avLst/>
          </a:prstGeom>
        </p:spPr>
      </p:pic>
      <p:sp>
        <p:nvSpPr>
          <p:cNvPr id="13" name="rkopf-362"/>
          <p:cNvSpPr txBox="1"/>
          <p:nvPr/>
        </p:nvSpPr>
        <p:spPr>
          <a:xfrm>
            <a:off x="1280160" y="2880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Standort &amp; Spots</a:t>
            </a:r>
            <a:endParaRPr lang="en-US" sz="1600" dirty="0"/>
          </a:p>
        </p:txBody>
      </p:sp>
      <p:sp>
        <p:nvSpPr>
          <p:cNvPr id="14" name="rtext-363"/>
          <p:cNvSpPr txBox="1"/>
          <p:nvPr/>
        </p:nvSpPr>
        <p:spPr>
          <a:xfrm>
            <a:off x="1280160" y="3246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Spots sind für Angler heikel: Teilen nur bewusst, Ende-zu-Ende-Verschlüsselung empfohlen; Wetter erhält nur auf ~100 m gerundete Koordinaten.</a:t>
            </a:r>
            <a:endParaRPr lang="en-US" sz="1300" dirty="0"/>
          </a:p>
        </p:txBody>
      </p:sp>
      <p:sp>
        <p:nvSpPr>
          <p:cNvPr id="15" name="kreis-364"/>
          <p:cNvSpPr/>
          <p:nvPr/>
        </p:nvSpPr>
        <p:spPr>
          <a:xfrm>
            <a:off x="6126480" y="2926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3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3072384"/>
            <a:ext cx="301752" cy="301752"/>
          </a:xfrm>
          <a:prstGeom prst="rect">
            <a:avLst/>
          </a:prstGeom>
        </p:spPr>
      </p:pic>
      <p:sp>
        <p:nvSpPr>
          <p:cNvPr id="17" name="rkopf-366"/>
          <p:cNvSpPr txBox="1"/>
          <p:nvPr/>
        </p:nvSpPr>
        <p:spPr>
          <a:xfrm>
            <a:off x="6903720" y="2880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Recht &amp; Haftung</a:t>
            </a:r>
            <a:endParaRPr lang="en-US" sz="1600" dirty="0"/>
          </a:p>
        </p:txBody>
      </p:sp>
      <p:sp>
        <p:nvSpPr>
          <p:cNvPr id="18" name="rtext-367"/>
          <p:cNvSpPr txBox="1"/>
          <p:nvPr/>
        </p:nvSpPr>
        <p:spPr>
          <a:xfrm>
            <a:off x="6903720" y="3246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Rechtsangaben können veralten: Prüfdatum, Veraltungswarnung, „keine Rechtsauskunft“, Quelle verlinkt. Impressum bei öffentlichem Start klären.</a:t>
            </a:r>
            <a:endParaRPr lang="en-US" sz="1300" dirty="0"/>
          </a:p>
        </p:txBody>
      </p:sp>
      <p:sp>
        <p:nvSpPr>
          <p:cNvPr id="19" name="kreis-368"/>
          <p:cNvSpPr/>
          <p:nvPr/>
        </p:nvSpPr>
        <p:spPr>
          <a:xfrm>
            <a:off x="502920" y="4526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36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672584"/>
            <a:ext cx="301752" cy="301752"/>
          </a:xfrm>
          <a:prstGeom prst="rect">
            <a:avLst/>
          </a:prstGeom>
        </p:spPr>
      </p:pic>
      <p:sp>
        <p:nvSpPr>
          <p:cNvPr id="21" name="rkopf-370"/>
          <p:cNvSpPr txBox="1"/>
          <p:nvPr/>
        </p:nvSpPr>
        <p:spPr>
          <a:xfrm>
            <a:off x="1280160" y="44805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Abhängigkeiten</a:t>
            </a:r>
            <a:endParaRPr lang="en-US" sz="1600" dirty="0"/>
          </a:p>
        </p:txBody>
      </p:sp>
      <p:sp>
        <p:nvSpPr>
          <p:cNvPr id="22" name="rtext-371"/>
          <p:cNvSpPr txBox="1"/>
          <p:nvPr/>
        </p:nvSpPr>
        <p:spPr>
          <a:xfrm>
            <a:off x="128016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OpenFreeMap und Open-Meteo ohne Garantie; GitHub Pages nicht für kommerzielle SaaS; Supabase Free pausiert nach 1 Woche.</a:t>
            </a:r>
            <a:endParaRPr lang="en-US" sz="1300" dirty="0"/>
          </a:p>
        </p:txBody>
      </p:sp>
      <p:sp>
        <p:nvSpPr>
          <p:cNvPr id="23" name="kreis-372"/>
          <p:cNvSpPr/>
          <p:nvPr/>
        </p:nvSpPr>
        <p:spPr>
          <a:xfrm>
            <a:off x="6126480" y="4526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-37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4672584"/>
            <a:ext cx="301752" cy="301752"/>
          </a:xfrm>
          <a:prstGeom prst="rect">
            <a:avLst/>
          </a:prstGeom>
        </p:spPr>
      </p:pic>
      <p:sp>
        <p:nvSpPr>
          <p:cNvPr id="25" name="rkopf-374"/>
          <p:cNvSpPr txBox="1"/>
          <p:nvPr/>
        </p:nvSpPr>
        <p:spPr>
          <a:xfrm>
            <a:off x="6903720" y="44805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Datenverlust</a:t>
            </a:r>
            <a:endParaRPr lang="en-US" sz="1600" dirty="0"/>
          </a:p>
        </p:txBody>
      </p:sp>
      <p:sp>
        <p:nvSpPr>
          <p:cNvPr id="26" name="rtext-375"/>
          <p:cNvSpPr txBox="1"/>
          <p:nvPr/>
        </p:nvSpPr>
        <p:spPr>
          <a:xfrm>
            <a:off x="690372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Ohne Sync nur lokale Daten: Browser kann löschen (v. a. iOS ohne Installation). Gegenmittel: Installation, Sicherungserinnerung, später Cloud-Sicherung.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Roadmap: erst Mailversand und Konto, dann Beta-Härtung, dann Community</a:t>
            </a:r>
            <a:endParaRPr lang="en-US" sz="2400" dirty="0"/>
          </a:p>
        </p:txBody>
      </p:sp>
      <p:sp>
        <p:nvSpPr>
          <p:cNvPr id="3" name="rmspalte-376"/>
          <p:cNvSpPr/>
          <p:nvPr/>
        </p:nvSpPr>
        <p:spPr>
          <a:xfrm>
            <a:off x="502920" y="1280160"/>
            <a:ext cx="3566160" cy="461772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io-377"/>
          <p:cNvSpPr/>
          <p:nvPr/>
        </p:nvSpPr>
        <p:spPr>
          <a:xfrm>
            <a:off x="731520" y="14630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8463B"/>
          </a:solidFill>
          <a:ln w="12700">
            <a:solidFill>
              <a:srgbClr val="C8463B"/>
            </a:solidFill>
            <a:prstDash val="solid"/>
          </a:ln>
        </p:spPr>
      </p:sp>
      <p:sp>
        <p:nvSpPr>
          <p:cNvPr id="5" name="priotext-378"/>
          <p:cNvSpPr txBox="1"/>
          <p:nvPr/>
        </p:nvSpPr>
        <p:spPr>
          <a:xfrm>
            <a:off x="731520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Priorität 1</a:t>
            </a:r>
            <a:endParaRPr lang="en-US" sz="1100" dirty="0"/>
          </a:p>
        </p:txBody>
      </p:sp>
      <p:sp>
        <p:nvSpPr>
          <p:cNvPr id="6" name="rmtitel-379"/>
          <p:cNvSpPr txBox="1"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Grundvoraussetzungen</a:t>
            </a:r>
            <a:endParaRPr lang="en-US" sz="1600" dirty="0"/>
          </a:p>
        </p:txBody>
      </p:sp>
      <p:sp>
        <p:nvSpPr>
          <p:cNvPr id="7" name="rmitem-380"/>
          <p:cNvSpPr txBox="1"/>
          <p:nvPr/>
        </p:nvSpPr>
        <p:spPr>
          <a:xfrm>
            <a:off x="73152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Domain + Brevo-SMTP, SPF/DKIM/DMARC, Code-Vorlage (+ DNS-Wartezeit)</a:t>
            </a:r>
            <a:endParaRPr lang="en-US" sz="1200" dirty="0"/>
          </a:p>
        </p:txBody>
      </p:sp>
      <p:sp>
        <p:nvSpPr>
          <p:cNvPr id="8" name="rmaufwand-381"/>
          <p:cNvSpPr txBox="1"/>
          <p:nvPr/>
        </p:nvSpPr>
        <p:spPr>
          <a:xfrm>
            <a:off x="3108960" y="2377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0,5–1 T</a:t>
            </a:r>
            <a:endParaRPr lang="en-US" sz="1100" dirty="0"/>
          </a:p>
        </p:txBody>
      </p:sp>
      <p:sp>
        <p:nvSpPr>
          <p:cNvPr id="9" name="rmitem-382"/>
          <p:cNvSpPr txBox="1"/>
          <p:nvPr/>
        </p:nvSpPr>
        <p:spPr>
          <a:xfrm>
            <a:off x="73152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Konto freischalten, Test mit echten Postfächern (iCloud, Gmail, Firma)</a:t>
            </a:r>
            <a:endParaRPr lang="en-US" sz="1200" dirty="0"/>
          </a:p>
        </p:txBody>
      </p:sp>
      <p:sp>
        <p:nvSpPr>
          <p:cNvPr id="10" name="rmaufwand-383"/>
          <p:cNvSpPr txBox="1"/>
          <p:nvPr/>
        </p:nvSpPr>
        <p:spPr>
          <a:xfrm>
            <a:off x="3108960" y="3108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1–2 T</a:t>
            </a:r>
            <a:endParaRPr lang="en-US" sz="1100" dirty="0"/>
          </a:p>
        </p:txBody>
      </p:sp>
      <p:sp>
        <p:nvSpPr>
          <p:cNvPr id="11" name="rmitem-384"/>
          <p:cNvSpPr txBox="1"/>
          <p:nvPr/>
        </p:nvSpPr>
        <p:spPr>
          <a:xfrm>
            <a:off x="73152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Datenschutzerklärung, AV-Verträge, Impressum klären</a:t>
            </a:r>
            <a:endParaRPr lang="en-US" sz="1200" dirty="0"/>
          </a:p>
        </p:txBody>
      </p:sp>
      <p:sp>
        <p:nvSpPr>
          <p:cNvPr id="12" name="rmaufwand-385"/>
          <p:cNvSpPr txBox="1"/>
          <p:nvPr/>
        </p:nvSpPr>
        <p:spPr>
          <a:xfrm>
            <a:off x="3108960" y="38404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extern</a:t>
            </a:r>
            <a:endParaRPr lang="en-US" sz="1100" dirty="0"/>
          </a:p>
        </p:txBody>
      </p:sp>
      <p:sp>
        <p:nvSpPr>
          <p:cNvPr id="13" name="rmitem-386"/>
          <p:cNvSpPr txBox="1"/>
          <p:nvPr/>
        </p:nvSpPr>
        <p:spPr>
          <a:xfrm>
            <a:off x="731520" y="4572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Supabase: Region prüfen, Free → Pro bei Beta</a:t>
            </a:r>
            <a:endParaRPr lang="en-US" sz="1200" dirty="0"/>
          </a:p>
        </p:txBody>
      </p:sp>
      <p:sp>
        <p:nvSpPr>
          <p:cNvPr id="14" name="rmaufwand-387"/>
          <p:cNvSpPr txBox="1"/>
          <p:nvPr/>
        </p:nvSpPr>
        <p:spPr>
          <a:xfrm>
            <a:off x="3108960" y="4572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0,5 T</a:t>
            </a:r>
            <a:endParaRPr lang="en-US" sz="1100" dirty="0"/>
          </a:p>
        </p:txBody>
      </p:sp>
      <p:sp>
        <p:nvSpPr>
          <p:cNvPr id="15" name="rmspalte-388"/>
          <p:cNvSpPr/>
          <p:nvPr/>
        </p:nvSpPr>
        <p:spPr>
          <a:xfrm>
            <a:off x="4297680" y="1280160"/>
            <a:ext cx="3566160" cy="461772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rio-389"/>
          <p:cNvSpPr/>
          <p:nvPr/>
        </p:nvSpPr>
        <p:spPr>
          <a:xfrm>
            <a:off x="4526280" y="14630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A500"/>
          </a:solidFill>
          <a:ln w="12700">
            <a:solidFill>
              <a:srgbClr val="E3A500"/>
            </a:solidFill>
            <a:prstDash val="solid"/>
          </a:ln>
        </p:spPr>
      </p:sp>
      <p:sp>
        <p:nvSpPr>
          <p:cNvPr id="17" name="priotext-390"/>
          <p:cNvSpPr txBox="1"/>
          <p:nvPr/>
        </p:nvSpPr>
        <p:spPr>
          <a:xfrm>
            <a:off x="4526280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Priorität 2</a:t>
            </a:r>
            <a:endParaRPr lang="en-US" sz="1100" dirty="0"/>
          </a:p>
        </p:txBody>
      </p:sp>
      <p:sp>
        <p:nvSpPr>
          <p:cNvPr id="18" name="rmtitel-391"/>
          <p:cNvSpPr txBox="1"/>
          <p:nvPr/>
        </p:nvSpPr>
        <p:spPr>
          <a:xfrm>
            <a:off x="45262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Öffentliche Beta</a:t>
            </a:r>
            <a:endParaRPr lang="en-US" sz="1600" dirty="0"/>
          </a:p>
        </p:txBody>
      </p:sp>
      <p:sp>
        <p:nvSpPr>
          <p:cNvPr id="19" name="rmitem-392"/>
          <p:cNvSpPr txBox="1"/>
          <p:nvPr/>
        </p:nvSpPr>
        <p:spPr>
          <a:xfrm>
            <a:off x="452628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Fehler-Monitoring (Sentry, ohne personenbezogene Daten)</a:t>
            </a:r>
            <a:endParaRPr lang="en-US" sz="1200" dirty="0"/>
          </a:p>
        </p:txBody>
      </p:sp>
      <p:sp>
        <p:nvSpPr>
          <p:cNvPr id="20" name="rmaufwand-393"/>
          <p:cNvSpPr txBox="1"/>
          <p:nvPr/>
        </p:nvSpPr>
        <p:spPr>
          <a:xfrm>
            <a:off x="6903720" y="2377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1–2 T</a:t>
            </a:r>
            <a:endParaRPr lang="en-US" sz="1100" dirty="0"/>
          </a:p>
        </p:txBody>
      </p:sp>
      <p:sp>
        <p:nvSpPr>
          <p:cNvPr id="21" name="rmitem-394"/>
          <p:cNvSpPr txBox="1"/>
          <p:nvPr/>
        </p:nvSpPr>
        <p:spPr>
          <a:xfrm>
            <a:off x="452628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Geräte-Matrix iOS/Android, Safari/Firefox</a:t>
            </a:r>
            <a:endParaRPr lang="en-US" sz="1200" dirty="0"/>
          </a:p>
        </p:txBody>
      </p:sp>
      <p:sp>
        <p:nvSpPr>
          <p:cNvPr id="22" name="rmaufwand-395"/>
          <p:cNvSpPr txBox="1"/>
          <p:nvPr/>
        </p:nvSpPr>
        <p:spPr>
          <a:xfrm>
            <a:off x="6903720" y="3108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2–3 T</a:t>
            </a:r>
            <a:endParaRPr lang="en-US" sz="1100" dirty="0"/>
          </a:p>
        </p:txBody>
      </p:sp>
      <p:sp>
        <p:nvSpPr>
          <p:cNvPr id="23" name="rmitem-396"/>
          <p:cNvSpPr txBox="1"/>
          <p:nvPr/>
        </p:nvSpPr>
        <p:spPr>
          <a:xfrm>
            <a:off x="452628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Unit-Test-Fehler AppShell beheben, Chromium-Version angleichen</a:t>
            </a:r>
            <a:endParaRPr lang="en-US" sz="1200" dirty="0"/>
          </a:p>
        </p:txBody>
      </p:sp>
      <p:sp>
        <p:nvSpPr>
          <p:cNvPr id="24" name="rmaufwand-397"/>
          <p:cNvSpPr txBox="1"/>
          <p:nvPr/>
        </p:nvSpPr>
        <p:spPr>
          <a:xfrm>
            <a:off x="6903720" y="38404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0,5–1 T</a:t>
            </a:r>
            <a:endParaRPr lang="en-US" sz="1100" dirty="0"/>
          </a:p>
        </p:txBody>
      </p:sp>
      <p:sp>
        <p:nvSpPr>
          <p:cNvPr id="25" name="rmitem-398"/>
          <p:cNvSpPr txBox="1"/>
          <p:nvPr/>
        </p:nvSpPr>
        <p:spPr>
          <a:xfrm>
            <a:off x="4526280" y="4572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Freunde (Etappe 2): Suche, Anfragen, Blockieren</a:t>
            </a:r>
            <a:endParaRPr lang="en-US" sz="1200" dirty="0"/>
          </a:p>
        </p:txBody>
      </p:sp>
      <p:sp>
        <p:nvSpPr>
          <p:cNvPr id="26" name="rmaufwand-399"/>
          <p:cNvSpPr txBox="1"/>
          <p:nvPr/>
        </p:nvSpPr>
        <p:spPr>
          <a:xfrm>
            <a:off x="6903720" y="4572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4–6 T</a:t>
            </a:r>
            <a:endParaRPr lang="en-US" sz="1100" dirty="0"/>
          </a:p>
        </p:txBody>
      </p:sp>
      <p:sp>
        <p:nvSpPr>
          <p:cNvPr id="27" name="rmitem-400"/>
          <p:cNvSpPr txBox="1"/>
          <p:nvPr/>
        </p:nvSpPr>
        <p:spPr>
          <a:xfrm>
            <a:off x="4526280" y="5303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Fachliche Prüfung Knoten/Montagen/Köderführung, Recht-Reste</a:t>
            </a:r>
            <a:endParaRPr lang="en-US" sz="1200" dirty="0"/>
          </a:p>
        </p:txBody>
      </p:sp>
      <p:sp>
        <p:nvSpPr>
          <p:cNvPr id="28" name="rmaufwand-401"/>
          <p:cNvSpPr txBox="1"/>
          <p:nvPr/>
        </p:nvSpPr>
        <p:spPr>
          <a:xfrm>
            <a:off x="6903720" y="53035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Redaktion</a:t>
            </a:r>
            <a:endParaRPr lang="en-US" sz="1100" dirty="0"/>
          </a:p>
        </p:txBody>
      </p:sp>
      <p:sp>
        <p:nvSpPr>
          <p:cNvPr id="29" name="rmspalte-402"/>
          <p:cNvSpPr/>
          <p:nvPr/>
        </p:nvSpPr>
        <p:spPr>
          <a:xfrm>
            <a:off x="8092440" y="1280160"/>
            <a:ext cx="3566160" cy="461772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rio-403"/>
          <p:cNvSpPr/>
          <p:nvPr/>
        </p:nvSpPr>
        <p:spPr>
          <a:xfrm>
            <a:off x="8321040" y="14630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F7A9C"/>
          </a:solidFill>
          <a:ln w="12700">
            <a:solidFill>
              <a:srgbClr val="1F7A9C"/>
            </a:solidFill>
            <a:prstDash val="solid"/>
          </a:ln>
        </p:spPr>
      </p:sp>
      <p:sp>
        <p:nvSpPr>
          <p:cNvPr id="31" name="priotext-404"/>
          <p:cNvSpPr txBox="1"/>
          <p:nvPr/>
        </p:nvSpPr>
        <p:spPr>
          <a:xfrm>
            <a:off x="8321040" y="14630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Priorität 3</a:t>
            </a:r>
            <a:endParaRPr lang="en-US" sz="1100" dirty="0"/>
          </a:p>
        </p:txBody>
      </p:sp>
      <p:sp>
        <p:nvSpPr>
          <p:cNvPr id="32" name="rmtitel-405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Ausbau und Wachstum</a:t>
            </a:r>
            <a:endParaRPr lang="en-US" sz="1600" dirty="0"/>
          </a:p>
        </p:txBody>
      </p:sp>
      <p:sp>
        <p:nvSpPr>
          <p:cNvPr id="33" name="rmitem-406"/>
          <p:cNvSpPr txBox="1"/>
          <p:nvPr/>
        </p:nvSpPr>
        <p:spPr>
          <a:xfrm>
            <a:off x="832104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Spots/Fänge teilen (Etappe 3), optional E2E-Verschlüsselung</a:t>
            </a:r>
            <a:endParaRPr lang="en-US" sz="1200" dirty="0"/>
          </a:p>
        </p:txBody>
      </p:sp>
      <p:sp>
        <p:nvSpPr>
          <p:cNvPr id="34" name="rmaufwand-407"/>
          <p:cNvSpPr txBox="1"/>
          <p:nvPr/>
        </p:nvSpPr>
        <p:spPr>
          <a:xfrm>
            <a:off x="10698480" y="2377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5–10 T</a:t>
            </a:r>
            <a:endParaRPr lang="en-US" sz="1100" dirty="0"/>
          </a:p>
        </p:txBody>
      </p:sp>
      <p:sp>
        <p:nvSpPr>
          <p:cNvPr id="35" name="rmitem-408"/>
          <p:cNvSpPr txBox="1"/>
          <p:nvPr/>
        </p:nvSpPr>
        <p:spPr>
          <a:xfrm>
            <a:off x="8321040" y="3108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Cloud-Sicherung / Synchronisierung</a:t>
            </a:r>
            <a:endParaRPr lang="en-US" sz="1200" dirty="0"/>
          </a:p>
        </p:txBody>
      </p:sp>
      <p:sp>
        <p:nvSpPr>
          <p:cNvPr id="36" name="rmaufwand-409"/>
          <p:cNvSpPr txBox="1"/>
          <p:nvPr/>
        </p:nvSpPr>
        <p:spPr>
          <a:xfrm>
            <a:off x="10698480" y="3108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8–15 T</a:t>
            </a:r>
            <a:endParaRPr lang="en-US" sz="1100" dirty="0"/>
          </a:p>
        </p:txBody>
      </p:sp>
      <p:sp>
        <p:nvSpPr>
          <p:cNvPr id="37" name="rmitem-410"/>
          <p:cNvSpPr txBox="1"/>
          <p:nvPr/>
        </p:nvSpPr>
        <p:spPr>
          <a:xfrm>
            <a:off x="832104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Foto-Speicher + Melden/Löschen/Blockieren</a:t>
            </a:r>
            <a:endParaRPr lang="en-US" sz="1200" dirty="0"/>
          </a:p>
        </p:txBody>
      </p:sp>
      <p:sp>
        <p:nvSpPr>
          <p:cNvPr id="38" name="rmaufwand-411"/>
          <p:cNvSpPr txBox="1"/>
          <p:nvPr/>
        </p:nvSpPr>
        <p:spPr>
          <a:xfrm>
            <a:off x="10698480" y="38404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5–8 T</a:t>
            </a:r>
            <a:endParaRPr lang="en-US" sz="1100" dirty="0"/>
          </a:p>
        </p:txBody>
      </p:sp>
      <p:sp>
        <p:nvSpPr>
          <p:cNvPr id="39" name="rmitem-412"/>
          <p:cNvSpPr txBox="1"/>
          <p:nvPr/>
        </p:nvSpPr>
        <p:spPr>
          <a:xfrm>
            <a:off x="8321040" y="4572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Offline-Karten (R2 + PMTiles)</a:t>
            </a:r>
            <a:endParaRPr lang="en-US" sz="1200" dirty="0"/>
          </a:p>
        </p:txBody>
      </p:sp>
      <p:sp>
        <p:nvSpPr>
          <p:cNvPr id="40" name="rmaufwand-413"/>
          <p:cNvSpPr txBox="1"/>
          <p:nvPr/>
        </p:nvSpPr>
        <p:spPr>
          <a:xfrm>
            <a:off x="10698480" y="45720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3–5 T</a:t>
            </a:r>
            <a:endParaRPr lang="en-US" sz="1100" dirty="0"/>
          </a:p>
        </p:txBody>
      </p:sp>
      <p:sp>
        <p:nvSpPr>
          <p:cNvPr id="41" name="rmitem-414"/>
          <p:cNvSpPr txBox="1"/>
          <p:nvPr/>
        </p:nvSpPr>
        <p:spPr>
          <a:xfrm>
            <a:off x="8321040" y="5303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Native Hülle (Hintergrund-GPS, Stores) – nur bei Bedarf</a:t>
            </a:r>
            <a:endParaRPr lang="en-US" sz="1200" dirty="0"/>
          </a:p>
        </p:txBody>
      </p:sp>
      <p:sp>
        <p:nvSpPr>
          <p:cNvPr id="42" name="rmaufwand-415"/>
          <p:cNvSpPr txBox="1"/>
          <p:nvPr/>
        </p:nvSpPr>
        <p:spPr>
          <a:xfrm>
            <a:off x="10698480" y="53035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5–10 T</a:t>
            </a:r>
            <a:endParaRPr lang="en-US" sz="1100" dirty="0"/>
          </a:p>
        </p:txBody>
      </p:sp>
      <p:sp>
        <p:nvSpPr>
          <p:cNvPr id="43" name="rmhinweis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 = Arbeitstage mit Claude Code und Review, Schätzung ±50 % wie im PLAN; keine verbindlichen Termine. Reihenfolge folgt den Abhängigkeiten: ohne Mailversand kein Konto, ohne Konto keine Community.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titel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Zusammenfassung und nächste Entscheidungen</a:t>
            </a:r>
            <a:endParaRPr lang="en-US" sz="3200" dirty="0"/>
          </a:p>
        </p:txBody>
      </p:sp>
      <p:sp>
        <p:nvSpPr>
          <p:cNvPr id="3" name="zstand"/>
          <p:cNvSpPr txBox="1"/>
          <p:nvPr/>
        </p:nvSpPr>
        <p:spPr>
          <a:xfrm>
            <a:off x="64008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Stand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Als persönliches Angel-Werkzeug ist Fangpunkt weit: Karte, Fangbuch, Statistik, Sessions, Wetter und Recht laufen und sind getestet.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Engpass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Alles Gemeinsame (Konto, Freunde, Teilen, Sync) hängt am fehlenden Mailversand mit eigener Domain.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Kosten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Start ≈ 2 €/Monat, öffentliche Beta ≈ 24 €/Monat, 5 000 Nutzer ≈ 80 €/Monat (netto, ohne Arbeitszeit).</a:t>
            </a:r>
            <a:endParaRPr lang="en-US" sz="1500" dirty="0"/>
          </a:p>
        </p:txBody>
      </p:sp>
      <p:sp>
        <p:nvSpPr>
          <p:cNvPr id="4" name="ekopf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Entscheidungen</a:t>
            </a:r>
            <a:endParaRPr lang="en-US" sz="1500" dirty="0"/>
          </a:p>
        </p:txBody>
      </p:sp>
      <p:sp>
        <p:nvSpPr>
          <p:cNvPr id="5" name="nr-416"/>
          <p:cNvSpPr/>
          <p:nvPr/>
        </p:nvSpPr>
        <p:spPr>
          <a:xfrm>
            <a:off x="6309360" y="1920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rtext-417"/>
          <p:cNvSpPr txBox="1"/>
          <p:nvPr/>
        </p:nvSpPr>
        <p:spPr>
          <a:xfrm>
            <a:off x="63093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entscheidung-418"/>
          <p:cNvSpPr txBox="1"/>
          <p:nvPr/>
        </p:nvSpPr>
        <p:spPr>
          <a:xfrm>
            <a:off x="685800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Domain fangpunkt.app kaufen und Brevo als Mailversand freigeben?</a:t>
            </a:r>
            <a:endParaRPr lang="en-US" sz="1400" dirty="0"/>
          </a:p>
        </p:txBody>
      </p:sp>
      <p:sp>
        <p:nvSpPr>
          <p:cNvPr id="8" name="nr-419"/>
          <p:cNvSpPr/>
          <p:nvPr/>
        </p:nvSpPr>
        <p:spPr>
          <a:xfrm>
            <a:off x="6309360" y="2606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rtext-420"/>
          <p:cNvSpPr txBox="1"/>
          <p:nvPr/>
        </p:nvSpPr>
        <p:spPr>
          <a:xfrm>
            <a:off x="6309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entscheidung-421"/>
          <p:cNvSpPr txBox="1"/>
          <p:nvPr/>
        </p:nvSpPr>
        <p:spPr>
          <a:xfrm>
            <a:off x="6858000" y="2560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 wann Supabase Pro (25 $/Monat) – erst zur öffentlichen Beta?</a:t>
            </a:r>
            <a:endParaRPr lang="en-US" sz="1400" dirty="0"/>
          </a:p>
        </p:txBody>
      </p:sp>
      <p:sp>
        <p:nvSpPr>
          <p:cNvPr id="11" name="nr-422"/>
          <p:cNvSpPr/>
          <p:nvPr/>
        </p:nvSpPr>
        <p:spPr>
          <a:xfrm>
            <a:off x="6309360" y="32918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rtext-423"/>
          <p:cNvSpPr txBox="1"/>
          <p:nvPr/>
        </p:nvSpPr>
        <p:spPr>
          <a:xfrm>
            <a:off x="63093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entscheidung-424"/>
          <p:cNvSpPr txBox="1"/>
          <p:nvPr/>
        </p:nvSpPr>
        <p:spPr>
          <a:xfrm>
            <a:off x="6858000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Bleibt Fangpunkt nicht kommerziell? (sonst Wetter-Abo und anderes Hosting)</a:t>
            </a:r>
            <a:endParaRPr lang="en-US" sz="1400" dirty="0"/>
          </a:p>
        </p:txBody>
      </p:sp>
      <p:sp>
        <p:nvSpPr>
          <p:cNvPr id="14" name="nr-425"/>
          <p:cNvSpPr/>
          <p:nvPr/>
        </p:nvSpPr>
        <p:spPr>
          <a:xfrm>
            <a:off x="6309360" y="3977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rtext-426"/>
          <p:cNvSpPr txBox="1"/>
          <p:nvPr/>
        </p:nvSpPr>
        <p:spPr>
          <a:xfrm>
            <a:off x="6309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entscheidung-427"/>
          <p:cNvSpPr txBox="1"/>
          <p:nvPr/>
        </p:nvSpPr>
        <p:spPr>
          <a:xfrm>
            <a:off x="685800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Wer prüft Knoten, Montagen und Köderführung fachlich?</a:t>
            </a:r>
            <a:endParaRPr lang="en-US" sz="1400" dirty="0"/>
          </a:p>
        </p:txBody>
      </p:sp>
      <p:sp>
        <p:nvSpPr>
          <p:cNvPr id="17" name="nr-428"/>
          <p:cNvSpPr/>
          <p:nvPr/>
        </p:nvSpPr>
        <p:spPr>
          <a:xfrm>
            <a:off x="6309360" y="4663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rtext-429"/>
          <p:cNvSpPr txBox="1"/>
          <p:nvPr/>
        </p:nvSpPr>
        <p:spPr>
          <a:xfrm>
            <a:off x="63093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entscheidung-430"/>
          <p:cNvSpPr txBox="1"/>
          <p:nvPr/>
        </p:nvSpPr>
        <p:spPr>
          <a:xfrm>
            <a:off x="6858000" y="4617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Spots teilen: nur Freundeskreis, mit Ende-zu-Ende-Verschlüsselung?</a:t>
            </a:r>
            <a:endParaRPr lang="en-US" sz="1400" dirty="0"/>
          </a:p>
        </p:txBody>
      </p:sp>
      <p:sp>
        <p:nvSpPr>
          <p:cNvPr id="20" name="nr-431"/>
          <p:cNvSpPr/>
          <p:nvPr/>
        </p:nvSpPr>
        <p:spPr>
          <a:xfrm>
            <a:off x="6309360" y="5349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rtext-432"/>
          <p:cNvSpPr txBox="1"/>
          <p:nvPr/>
        </p:nvSpPr>
        <p:spPr>
          <a:xfrm>
            <a:off x="630936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entscheidung-433"/>
          <p:cNvSpPr txBox="1"/>
          <p:nvPr/>
        </p:nvSpPr>
        <p:spPr>
          <a:xfrm>
            <a:off x="6858000" y="5303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Native App (Hintergrund-GPS, Stores) – ja, nein, später?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Anhang: Videos, Screenshots und Quellen</a:t>
            </a:r>
            <a:endParaRPr lang="en-US" sz="2400" dirty="0"/>
          </a:p>
        </p:txBody>
      </p:sp>
      <p:graphicFrame>
        <p:nvGraphicFramePr>
          <p:cNvPr id="28" name="video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Video (Fangpunkt_Medien/Videos/)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Inhalt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Folie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Fangpunkt_Video_01_….mp4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Gewässerkarte &amp; Gewässerprofil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Folie 7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Fangpunkt_Video_02_….mp4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 erfassen mit Rechts-Warnung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Folie 8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Fangpunkt_Video_03_….mp4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Session mit GPS-Route (Zeitraffer)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Folie 10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Fangpunkt_Video_04_….mp4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Session-Rückblick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Folie 10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Fangpunkt_Video_05_….mp4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Fangbuch &amp; Statistik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Folie 9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Fangpunkt_Video_06_….mp4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Wetter &amp; Angelkalender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Folie 11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Fangpunkt_Video_07_….mp4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Fischereirecht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30"/>
                          </a:solidFill>
                        </a:rPr>
                        <a:t>Folie 12</a:t>
                      </a:r>
                      <a:endParaRPr lang="en-US" sz="11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medienhinweis"/>
          <p:cNvSpPr txBox="1"/>
          <p:nvPr/>
        </p:nvSpPr>
        <p:spPr>
          <a:xfrm>
            <a:off x="502920" y="4023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Alle Videos 1920 × 1080, H.264, 24–54 s, mit Untertiteln; Aufnahme per Chromium-Screencast aus der laufenden App. 52 Screenshots (390 px @2x, Desktop 1440 px) in Fangpunkt_Medien/Screenshots/. Profil, Fänge und Beiträge sind Beispieldaten; keine Zugangsdaten enthalten.</a:t>
            </a:r>
            <a:endParaRPr lang="en-US" sz="1200" dirty="0"/>
          </a:p>
        </p:txBody>
      </p:sp>
      <p:sp>
        <p:nvSpPr>
          <p:cNvPr id="5" name="quellenkopf"/>
          <p:cNvSpPr txBox="1"/>
          <p:nvPr/>
        </p:nvSpPr>
        <p:spPr>
          <a:xfrm>
            <a:off x="630936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Quellen (abgerufen 30.10.2026)</a:t>
            </a:r>
            <a:endParaRPr lang="en-US" sz="1400" dirty="0"/>
          </a:p>
        </p:txBody>
      </p:sp>
      <p:sp>
        <p:nvSpPr>
          <p:cNvPr id="6" name="quellen"/>
          <p:cNvSpPr txBox="1"/>
          <p:nvPr/>
        </p:nvSpPr>
        <p:spPr>
          <a:xfrm>
            <a:off x="6309360" y="160020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" invalidUrl="" action="" tgtFrame="" tooltip="https://supabase.com/pric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Supabase Pricing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2" invalidUrl="" action="" tgtFrame="" tooltip="https://supabase.com/docs/guides/platform/compute-and-dis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Supabase Compute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3" invalidUrl="" action="" tgtFrame="" tooltip="https://www.brevo.com/pricin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Brevo Pricing (Free 300 Mails/Tag)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4" invalidUrl="" action="" tgtFrame="" tooltip="https://www.sender.net/reviews/brevo/pricin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Brevo Starter-Preis (Drittquelle)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5" invalidUrl="" action="" tgtFrame="" tooltip="https://resend.com/pric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Resend Pricing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6" invalidUrl="" action="" tgtFrame="" tooltip="https://sentry.io/pricin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Sentry Pricing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7" invalidUrl="" action="" tgtFrame="" tooltip="https://open-meteo.com/en/pric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Open-Meteo Pricing/Terms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8" invalidUrl="" action="" tgtFrame="" tooltip="https://openmeteo.substack.com/p/api-subscriptions-for-commerc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Open-Meteo Abo-Preis (Blog)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9" invalidUrl="" action="" tgtFrame="" tooltip="https://developers.cloudflare.com/r2/pricin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Cloudflare R2 Pricing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0" invalidUrl="" action="" tgtFrame="" tooltip="https://developers.cloudflare.com/pages/platform/limit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Cloudflare Pages Limits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1" invalidUrl="" action="" tgtFrame="" tooltip="https://docs.github.com/en/pages/getting-started-with-github-pages/github-pages-limi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Pages Limits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2" invalidUrl="" action="" tgtFrame="" tooltip="https://www.hetzner.com/cloud/regular-performanc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Hetzner Cloud Regular Performance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3" invalidUrl="" action="" tgtFrame="" tooltip="https://www.inwx.de/app-domai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INWX .app-Domain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4" invalidUrl="" action="" tgtFrame="" tooltip="https://developer.apple.com/program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Apple Developer Program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5" invalidUrl="" action="" tgtFrame="" tooltip="https://support.google.com/googleplay/android-developer/answer/611243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Play Registrierung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F6FB2"/>
                </a:solidFill>
                <a:hlinkClick r:id="rId16" invalidUrl="" action="" tgtFrame="" tooltip="https://www.ecb.europa.eu/stats/policy_and_exchange_rates/euro_reference_exchange_rates/html/index.e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EZB-Referenzkurse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ngpunkt">
  <a:themeElements>
    <a:clrScheme name="Fangpunkt">
      <a:dk1>
        <a:srgbClr val="1C2B30"/>
      </a:dk1>
      <a:lt1>
        <a:srgbClr val="FFFFFF"/>
      </a:lt1>
      <a:dk2>
        <a:srgbClr val="123C34"/>
      </a:dk2>
      <a:lt2>
        <a:srgbClr val="F1F5F5"/>
      </a:lt2>
      <a:accent1>
        <a:srgbClr val="1F7A9C"/>
      </a:accent1>
      <a:accent2>
        <a:srgbClr val="2E9E5B"/>
      </a:accent2>
      <a:accent3>
        <a:srgbClr val="E3A500"/>
      </a:accent3>
      <a:accent4>
        <a:srgbClr val="C8463B"/>
      </a:accent4>
      <a:accent5>
        <a:srgbClr val="F2994A"/>
      </a:accent5>
      <a:accent6>
        <a:srgbClr val="6B7C80"/>
      </a:accent6>
      <a:hlink>
        <a:srgbClr val="1F6FB2"/>
      </a:hlink>
      <a:folHlink>
        <a:srgbClr val="5B4C9A"/>
      </a:folHlink>
    </a:clrScheme>
    <a:fontScheme name="Fangpunk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Fangpunkt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Fangpunkt – Aktueller Entwicklungsstand</dc:title>
  <dc:subject>PptxGenJS Presentation</dc:subject>
  <dc:creator>Fangpunkt-Team</dc:creator>
  <cp:lastModifiedBy>Fangpunkt-Team</cp:lastModifiedBy>
  <cp:revision>1</cp:revision>
  <dcterms:created xsi:type="dcterms:W3CDTF">2026-10-30T06:37:25Z</dcterms:created>
  <dcterms:modified xsi:type="dcterms:W3CDTF">2026-10-30T06:37:25Z</dcterms:modified>
</cp:coreProperties>
</file>